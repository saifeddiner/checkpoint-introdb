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0"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03" autoAdjust="0"/>
    <p:restoredTop sz="94660"/>
  </p:normalViewPr>
  <p:slideViewPr>
    <p:cSldViewPr snapToGrid="0">
      <p:cViewPr varScale="1">
        <p:scale>
          <a:sx n="68" d="100"/>
          <a:sy n="68"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289C5-76E9-4C04-9F04-61334A8E6CD3}" type="datetimeFigureOut">
              <a:rPr lang="en-US" smtClean="0"/>
              <a:t>1/29/2021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DC53D3-815D-413B-8D35-647743694976}" type="slidenum">
              <a:rPr lang="en-US" smtClean="0"/>
              <a:t>‹#›</a:t>
            </a:fld>
            <a:endParaRPr lang="en-US"/>
          </a:p>
        </p:txBody>
      </p:sp>
    </p:spTree>
    <p:extLst>
      <p:ext uri="{BB962C8B-B14F-4D97-AF65-F5344CB8AC3E}">
        <p14:creationId xmlns:p14="http://schemas.microsoft.com/office/powerpoint/2010/main" val="2648559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DC53D3-815D-413B-8D35-647743694976}" type="slidenum">
              <a:rPr lang="en-US" smtClean="0"/>
              <a:t>2</a:t>
            </a:fld>
            <a:endParaRPr lang="en-US"/>
          </a:p>
        </p:txBody>
      </p:sp>
    </p:spTree>
    <p:extLst>
      <p:ext uri="{BB962C8B-B14F-4D97-AF65-F5344CB8AC3E}">
        <p14:creationId xmlns:p14="http://schemas.microsoft.com/office/powerpoint/2010/main" val="7727587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3007466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3362026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720073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E5D18A-1D29-4D71-89F5-001EC9E85EB5}" type="datetimeFigureOut">
              <a:rPr lang="en-US" smtClean="0"/>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313809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E5D18A-1D29-4D71-89F5-001EC9E85EB5}" type="datetimeFigureOut">
              <a:rPr lang="en-US" smtClean="0"/>
              <a:t>1/29/2021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206491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E5D18A-1D29-4D71-89F5-001EC9E85EB5}" type="datetimeFigureOut">
              <a:rPr lang="en-US" smtClean="0"/>
              <a:t>1/29/2021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124342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E5D18A-1D29-4D71-89F5-001EC9E85EB5}" type="datetimeFigureOut">
              <a:rPr lang="en-US" smtClean="0"/>
              <a:t>1/29/2021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3866677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E5D18A-1D29-4D71-89F5-001EC9E85EB5}" type="datetimeFigureOut">
              <a:rPr lang="en-US" smtClean="0"/>
              <a:t>1/29/2021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11218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E5D18A-1D29-4D71-89F5-001EC9E85EB5}" type="datetimeFigureOut">
              <a:rPr lang="en-US" smtClean="0"/>
              <a:t>1/29/2021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17751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E5D18A-1D29-4D71-89F5-001EC9E85EB5}" type="datetimeFigureOut">
              <a:rPr lang="en-US" smtClean="0"/>
              <a:t>1/29/2021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2004665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220972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577222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12426070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CE5D18A-1D29-4D71-89F5-001EC9E85EB5}" type="datetimeFigureOut">
              <a:rPr lang="en-US" smtClean="0"/>
              <a:t>1/29/2021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1883793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CE5D18A-1D29-4D71-89F5-001EC9E85EB5}" type="datetimeFigureOut">
              <a:rPr lang="en-US" smtClean="0"/>
              <a:t>1/29/2021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34628970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3428450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CE5D18A-1D29-4D71-89F5-001EC9E85EB5}" type="datetimeFigureOut">
              <a:rPr lang="en-US" smtClean="0"/>
              <a:t>1/29/2021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A54A0A-69FB-42CC-8851-DE5B51E8B866}" type="slidenum">
              <a:rPr lang="en-US" smtClean="0"/>
              <a:t>‹#›</a:t>
            </a:fld>
            <a:endParaRPr lang="en-US"/>
          </a:p>
        </p:txBody>
      </p:sp>
    </p:spTree>
    <p:extLst>
      <p:ext uri="{BB962C8B-B14F-4D97-AF65-F5344CB8AC3E}">
        <p14:creationId xmlns:p14="http://schemas.microsoft.com/office/powerpoint/2010/main" val="1977999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CE5D18A-1D29-4D71-89F5-001EC9E85EB5}" type="datetimeFigureOut">
              <a:rPr lang="en-US" smtClean="0"/>
              <a:t>1/29/2021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2A54A0A-69FB-42CC-8851-DE5B51E8B866}" type="slidenum">
              <a:rPr lang="en-US" smtClean="0"/>
              <a:t>‹#›</a:t>
            </a:fld>
            <a:endParaRPr lang="en-US"/>
          </a:p>
        </p:txBody>
      </p:sp>
    </p:spTree>
    <p:extLst>
      <p:ext uri="{BB962C8B-B14F-4D97-AF65-F5344CB8AC3E}">
        <p14:creationId xmlns:p14="http://schemas.microsoft.com/office/powerpoint/2010/main" val="2770384421"/>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 id="2147483883" r:id="rId13"/>
    <p:sldLayoutId id="2147483884" r:id="rId14"/>
    <p:sldLayoutId id="2147483885" r:id="rId15"/>
    <p:sldLayoutId id="2147483886" r:id="rId16"/>
    <p:sldLayoutId id="214748388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AE4C9EE-01E1-4F33-80F0-00F5A4ACD6A1}"/>
              </a:ext>
            </a:extLst>
          </p:cNvPr>
          <p:cNvSpPr>
            <a:spLocks noGrp="1"/>
          </p:cNvSpPr>
          <p:nvPr>
            <p:ph type="subTitle" idx="1"/>
          </p:nvPr>
        </p:nvSpPr>
        <p:spPr>
          <a:xfrm>
            <a:off x="7779434" y="4726745"/>
            <a:ext cx="3657600" cy="379828"/>
          </a:xfrm>
        </p:spPr>
        <p:txBody>
          <a:bodyPr>
            <a:noAutofit/>
          </a:bodyPr>
          <a:lstStyle/>
          <a:p>
            <a:r>
              <a:rPr lang="en-US" b="1" i="1" dirty="0"/>
              <a:t>BY Saif eddine romdhane</a:t>
            </a:r>
          </a:p>
        </p:txBody>
      </p:sp>
      <p:sp>
        <p:nvSpPr>
          <p:cNvPr id="4" name="Rectangle 3">
            <a:extLst>
              <a:ext uri="{FF2B5EF4-FFF2-40B4-BE49-F238E27FC236}">
                <a16:creationId xmlns:a16="http://schemas.microsoft.com/office/drawing/2014/main" id="{EA81366F-D7E4-406F-AE47-603B01AEA3CF}"/>
              </a:ext>
            </a:extLst>
          </p:cNvPr>
          <p:cNvSpPr/>
          <p:nvPr/>
        </p:nvSpPr>
        <p:spPr>
          <a:xfrm>
            <a:off x="1913507" y="2079322"/>
            <a:ext cx="4554452" cy="1107996"/>
          </a:xfrm>
          <a:prstGeom prst="rect">
            <a:avLst/>
          </a:prstGeom>
          <a:noFill/>
          <a:effectLst>
            <a:outerShdw blurRad="50800" dist="38100" dir="5400000" algn="t" rotWithShape="0">
              <a:prstClr val="black">
                <a:alpha val="40000"/>
              </a:prstClr>
            </a:outerShdw>
          </a:effectLst>
        </p:spPr>
        <p:txBody>
          <a:bodyPr wrap="none" lIns="91440" tIns="45720" rIns="91440" bIns="45720">
            <a:spAutoFit/>
          </a:bodyPr>
          <a:lstStyle/>
          <a:p>
            <a:pPr algn="ctr"/>
            <a:r>
              <a:rPr lang="en-US" sz="6600" b="1" dirty="0">
                <a:ln w="12700">
                  <a:solidFill>
                    <a:schemeClr val="tx1"/>
                  </a:solidFill>
                  <a:prstDash val="solid"/>
                </a:ln>
                <a:solidFill>
                  <a:schemeClr val="accent5">
                    <a:lumMod val="20000"/>
                    <a:lumOff val="80000"/>
                  </a:schemeClr>
                </a:solidFill>
                <a:effectLst>
                  <a:glow rad="63500">
                    <a:schemeClr val="accent5">
                      <a:satMod val="175000"/>
                      <a:alpha val="40000"/>
                    </a:schemeClr>
                  </a:glow>
                </a:effectLst>
              </a:rPr>
              <a:t>Databases</a:t>
            </a:r>
          </a:p>
        </p:txBody>
      </p:sp>
      <p:sp>
        <p:nvSpPr>
          <p:cNvPr id="6" name="TextBox 5">
            <a:extLst>
              <a:ext uri="{FF2B5EF4-FFF2-40B4-BE49-F238E27FC236}">
                <a16:creationId xmlns:a16="http://schemas.microsoft.com/office/drawing/2014/main" id="{D9D1EFE5-DB97-4996-91B8-4B149F4FEC55}"/>
              </a:ext>
            </a:extLst>
          </p:cNvPr>
          <p:cNvSpPr txBox="1"/>
          <p:nvPr/>
        </p:nvSpPr>
        <p:spPr>
          <a:xfrm>
            <a:off x="2855742" y="3316459"/>
            <a:ext cx="9875520" cy="1015663"/>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accent2">
                    <a:lumMod val="60000"/>
                    <a:lumOff val="40000"/>
                  </a:schemeClr>
                </a:solidFill>
              </a:rPr>
              <a:t>What is a Database ?</a:t>
            </a:r>
          </a:p>
          <a:p>
            <a:pPr marL="285750" indent="-285750">
              <a:buFont typeface="Arial" panose="020B0604020202020204" pitchFamily="34" charset="0"/>
              <a:buChar char="•"/>
            </a:pPr>
            <a:r>
              <a:rPr lang="en-US" sz="2000" b="1" dirty="0">
                <a:solidFill>
                  <a:schemeClr val="accent2">
                    <a:lumMod val="60000"/>
                    <a:lumOff val="40000"/>
                  </a:schemeClr>
                </a:solidFill>
              </a:rPr>
              <a:t>What is RDBMS ?</a:t>
            </a:r>
          </a:p>
          <a:p>
            <a:pPr marL="285750" indent="-285750">
              <a:buFont typeface="Arial" panose="020B0604020202020204" pitchFamily="34" charset="0"/>
              <a:buChar char="•"/>
            </a:pPr>
            <a:r>
              <a:rPr lang="en-US" sz="2000" b="1" dirty="0">
                <a:solidFill>
                  <a:schemeClr val="accent2">
                    <a:lumMod val="60000"/>
                    <a:lumOff val="40000"/>
                  </a:schemeClr>
                </a:solidFill>
              </a:rPr>
              <a:t>the difference between MySQL, PostgreSQL and SQL server ?</a:t>
            </a:r>
          </a:p>
        </p:txBody>
      </p:sp>
    </p:spTree>
    <p:extLst>
      <p:ext uri="{BB962C8B-B14F-4D97-AF65-F5344CB8AC3E}">
        <p14:creationId xmlns:p14="http://schemas.microsoft.com/office/powerpoint/2010/main" val="3353801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AE2CE-891B-4BB1-AEFC-07DFCA2221B8}"/>
              </a:ext>
            </a:extLst>
          </p:cNvPr>
          <p:cNvSpPr>
            <a:spLocks noGrp="1"/>
          </p:cNvSpPr>
          <p:nvPr>
            <p:ph type="title"/>
          </p:nvPr>
        </p:nvSpPr>
        <p:spPr>
          <a:xfrm>
            <a:off x="1715293" y="945533"/>
            <a:ext cx="8761413" cy="706964"/>
          </a:xfrm>
        </p:spPr>
        <p:txBody>
          <a:bodyPr/>
          <a:lstStyle/>
          <a:p>
            <a:pPr algn="ctr"/>
            <a:r>
              <a:rPr lang="en-US" sz="4000" b="1" dirty="0">
                <a:solidFill>
                  <a:schemeClr val="accent2">
                    <a:lumMod val="60000"/>
                    <a:lumOff val="40000"/>
                  </a:schemeClr>
                </a:solidFill>
                <a:effectLst>
                  <a:outerShdw blurRad="38100" dist="38100" dir="2700000" algn="tl">
                    <a:srgbClr val="000000">
                      <a:alpha val="43137"/>
                    </a:srgbClr>
                  </a:outerShdw>
                </a:effectLst>
              </a:rPr>
              <a:t>What is a Database ?</a:t>
            </a:r>
          </a:p>
        </p:txBody>
      </p:sp>
      <p:sp>
        <p:nvSpPr>
          <p:cNvPr id="3" name="Content Placeholder 2">
            <a:extLst>
              <a:ext uri="{FF2B5EF4-FFF2-40B4-BE49-F238E27FC236}">
                <a16:creationId xmlns:a16="http://schemas.microsoft.com/office/drawing/2014/main" id="{7E3A1681-3925-4B71-B3BE-F1B93AAB10BD}"/>
              </a:ext>
            </a:extLst>
          </p:cNvPr>
          <p:cNvSpPr>
            <a:spLocks noGrp="1"/>
          </p:cNvSpPr>
          <p:nvPr>
            <p:ph idx="1"/>
          </p:nvPr>
        </p:nvSpPr>
        <p:spPr>
          <a:xfrm>
            <a:off x="806548" y="2631634"/>
            <a:ext cx="10578904" cy="4106789"/>
          </a:xfrm>
        </p:spPr>
        <p:txBody>
          <a:bodyPr>
            <a:normAutofit/>
          </a:bodyPr>
          <a:lstStyle/>
          <a:p>
            <a:pPr algn="just">
              <a:lnSpc>
                <a:spcPct val="150000"/>
              </a:lnSpc>
            </a:pPr>
            <a:r>
              <a:rPr lang="en-US" sz="2000" b="0" i="0" dirty="0">
                <a:solidFill>
                  <a:schemeClr val="tx1"/>
                </a:solidFill>
                <a:effectLst/>
                <a:latin typeface="Arial" panose="020B0604020202020204" pitchFamily="34" charset="0"/>
              </a:rPr>
              <a:t>A </a:t>
            </a:r>
            <a:r>
              <a:rPr lang="en-US" sz="2000" b="1" i="0" dirty="0">
                <a:solidFill>
                  <a:schemeClr val="tx1"/>
                </a:solidFill>
                <a:effectLst/>
                <a:latin typeface="Arial" panose="020B0604020202020204" pitchFamily="34" charset="0"/>
              </a:rPr>
              <a:t>database</a:t>
            </a:r>
            <a:r>
              <a:rPr lang="en-US" sz="2000" b="0" i="0" dirty="0">
                <a:solidFill>
                  <a:schemeClr val="tx1"/>
                </a:solidFill>
                <a:effectLst/>
                <a:latin typeface="Arial" panose="020B0604020202020204" pitchFamily="34" charset="0"/>
              </a:rPr>
              <a:t> is a collection of information that is organized so that it can be easily accessed, managed and updated. Computer databases typically contain aggregations of data records or files, containing information about sales transactions or interactions with specific customers.</a:t>
            </a:r>
          </a:p>
          <a:p>
            <a:pPr algn="just">
              <a:lnSpc>
                <a:spcPct val="150000"/>
              </a:lnSpc>
            </a:pPr>
            <a:r>
              <a:rPr lang="en-US" sz="2000" b="1" i="0" dirty="0">
                <a:solidFill>
                  <a:schemeClr val="tx1"/>
                </a:solidFill>
                <a:effectLst/>
                <a:latin typeface="Arial" panose="020B0604020202020204" pitchFamily="34" charset="0"/>
              </a:rPr>
              <a:t>Types of databases : </a:t>
            </a:r>
            <a:r>
              <a:rPr lang="en-US" sz="2000" b="0" i="0" dirty="0">
                <a:solidFill>
                  <a:schemeClr val="tx1"/>
                </a:solidFill>
                <a:effectLst/>
                <a:latin typeface="Arial" panose="020B0604020202020204" pitchFamily="34" charset="0"/>
              </a:rPr>
              <a:t>Databases have evolved since their inception in the 1960s, beginning with hierarchical and network databases, through the 1980s with object-oriented databases, and today with SQL and NoSQL databases and cloud databases.</a:t>
            </a:r>
          </a:p>
          <a:p>
            <a:pPr algn="just"/>
            <a:endParaRPr lang="en-US" sz="2000" dirty="0">
              <a:solidFill>
                <a:schemeClr val="tx1"/>
              </a:solidFill>
            </a:endParaRPr>
          </a:p>
        </p:txBody>
      </p:sp>
    </p:spTree>
    <p:extLst>
      <p:ext uri="{BB962C8B-B14F-4D97-AF65-F5344CB8AC3E}">
        <p14:creationId xmlns:p14="http://schemas.microsoft.com/office/powerpoint/2010/main" val="410321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BC12-1E8C-4B7E-B0D8-275DAE3ABF5C}"/>
              </a:ext>
            </a:extLst>
          </p:cNvPr>
          <p:cNvSpPr>
            <a:spLocks noGrp="1"/>
          </p:cNvSpPr>
          <p:nvPr>
            <p:ph type="title"/>
          </p:nvPr>
        </p:nvSpPr>
        <p:spPr>
          <a:xfrm>
            <a:off x="630701" y="931465"/>
            <a:ext cx="10058400" cy="706964"/>
          </a:xfrm>
        </p:spPr>
        <p:txBody>
          <a:bodyPr/>
          <a:lstStyle/>
          <a:p>
            <a:pPr algn="ctr"/>
            <a:r>
              <a:rPr lang="en-US" sz="3000" b="1" i="0" dirty="0">
                <a:solidFill>
                  <a:schemeClr val="accent2">
                    <a:lumMod val="60000"/>
                    <a:lumOff val="40000"/>
                  </a:schemeClr>
                </a:solidFill>
                <a:effectLst>
                  <a:outerShdw blurRad="38100" dist="38100" dir="2700000" algn="tl">
                    <a:srgbClr val="000000">
                      <a:alpha val="43137"/>
                    </a:srgbClr>
                  </a:outerShdw>
                </a:effectLst>
                <a:latin typeface="Roboto"/>
              </a:rPr>
              <a:t>Relational Database Management Systems(RDBMS)</a:t>
            </a:r>
            <a:endParaRPr lang="en-US" sz="3000" b="1" dirty="0">
              <a:solidFill>
                <a:schemeClr val="accent2">
                  <a:lumMod val="60000"/>
                  <a:lumOff val="40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CE1D4EB5-D77C-4626-9F79-7B7A50475AFB}"/>
              </a:ext>
            </a:extLst>
          </p:cNvPr>
          <p:cNvSpPr>
            <a:spLocks noGrp="1"/>
          </p:cNvSpPr>
          <p:nvPr>
            <p:ph idx="1"/>
          </p:nvPr>
        </p:nvSpPr>
        <p:spPr>
          <a:xfrm>
            <a:off x="630701" y="2758244"/>
            <a:ext cx="10930597" cy="3416300"/>
          </a:xfrm>
        </p:spPr>
        <p:txBody>
          <a:bodyPr>
            <a:normAutofit/>
          </a:bodyPr>
          <a:lstStyle/>
          <a:p>
            <a:pPr algn="just">
              <a:lnSpc>
                <a:spcPct val="150000"/>
              </a:lnSpc>
              <a:spcBef>
                <a:spcPts val="0"/>
              </a:spcBef>
            </a:pPr>
            <a:r>
              <a:rPr lang="en-US" sz="1990" b="0" i="0" dirty="0">
                <a:solidFill>
                  <a:schemeClr val="tx1"/>
                </a:solidFill>
                <a:effectLst/>
                <a:latin typeface="Arial" panose="020B0604020202020204" pitchFamily="34" charset="0"/>
                <a:cs typeface="Arial" panose="020B0604020202020204" pitchFamily="34" charset="0"/>
              </a:rPr>
              <a:t>Stands for "</a:t>
            </a:r>
            <a:r>
              <a:rPr lang="en-US" sz="1990" b="1" i="0" dirty="0">
                <a:solidFill>
                  <a:schemeClr val="tx1"/>
                </a:solidFill>
                <a:effectLst/>
                <a:latin typeface="Arial" panose="020B0604020202020204" pitchFamily="34" charset="0"/>
                <a:cs typeface="Arial" panose="020B0604020202020204" pitchFamily="34" charset="0"/>
              </a:rPr>
              <a:t>R</a:t>
            </a:r>
            <a:r>
              <a:rPr lang="en-US" sz="1990" b="0" i="0" dirty="0">
                <a:solidFill>
                  <a:schemeClr val="tx1"/>
                </a:solidFill>
                <a:effectLst/>
                <a:latin typeface="Arial" panose="020B0604020202020204" pitchFamily="34" charset="0"/>
                <a:cs typeface="Arial" panose="020B0604020202020204" pitchFamily="34" charset="0"/>
              </a:rPr>
              <a:t>elational </a:t>
            </a:r>
            <a:r>
              <a:rPr lang="en-US" sz="1990" b="1" i="0" dirty="0">
                <a:solidFill>
                  <a:schemeClr val="tx1"/>
                </a:solidFill>
                <a:effectLst/>
                <a:latin typeface="Arial" panose="020B0604020202020204" pitchFamily="34" charset="0"/>
                <a:cs typeface="Arial" panose="020B0604020202020204" pitchFamily="34" charset="0"/>
              </a:rPr>
              <a:t>D</a:t>
            </a:r>
            <a:r>
              <a:rPr lang="en-US" sz="1990" i="0" dirty="0">
                <a:solidFill>
                  <a:schemeClr val="tx1"/>
                </a:solidFill>
                <a:effectLst/>
                <a:latin typeface="Arial" panose="020B0604020202020204" pitchFamily="34" charset="0"/>
                <a:cs typeface="Arial" panose="020B0604020202020204" pitchFamily="34" charset="0"/>
              </a:rPr>
              <a:t>ata</a:t>
            </a:r>
            <a:r>
              <a:rPr lang="en-US" sz="1990" b="1" i="0" dirty="0">
                <a:solidFill>
                  <a:schemeClr val="tx1"/>
                </a:solidFill>
                <a:effectLst/>
                <a:latin typeface="Arial" panose="020B0604020202020204" pitchFamily="34" charset="0"/>
                <a:cs typeface="Arial" panose="020B0604020202020204" pitchFamily="34" charset="0"/>
              </a:rPr>
              <a:t>B</a:t>
            </a:r>
            <a:r>
              <a:rPr lang="en-US" sz="1990" i="0" dirty="0">
                <a:solidFill>
                  <a:schemeClr val="tx1"/>
                </a:solidFill>
                <a:effectLst/>
                <a:latin typeface="Arial" panose="020B0604020202020204" pitchFamily="34" charset="0"/>
                <a:cs typeface="Arial" panose="020B0604020202020204" pitchFamily="34" charset="0"/>
              </a:rPr>
              <a:t>ase</a:t>
            </a:r>
            <a:r>
              <a:rPr lang="en-US" sz="1990" b="0" i="0" dirty="0">
                <a:solidFill>
                  <a:schemeClr val="tx1"/>
                </a:solidFill>
                <a:effectLst/>
                <a:latin typeface="Arial" panose="020B0604020202020204" pitchFamily="34" charset="0"/>
                <a:cs typeface="Arial" panose="020B0604020202020204" pitchFamily="34" charset="0"/>
              </a:rPr>
              <a:t> </a:t>
            </a:r>
            <a:r>
              <a:rPr lang="en-US" sz="1990" b="1" i="0" dirty="0">
                <a:solidFill>
                  <a:schemeClr val="tx1"/>
                </a:solidFill>
                <a:effectLst/>
                <a:latin typeface="Arial" panose="020B0604020202020204" pitchFamily="34" charset="0"/>
                <a:cs typeface="Arial" panose="020B0604020202020204" pitchFamily="34" charset="0"/>
              </a:rPr>
              <a:t>M</a:t>
            </a:r>
            <a:r>
              <a:rPr lang="en-US" sz="1990" b="0" i="0" dirty="0">
                <a:solidFill>
                  <a:schemeClr val="tx1"/>
                </a:solidFill>
                <a:effectLst/>
                <a:latin typeface="Arial" panose="020B0604020202020204" pitchFamily="34" charset="0"/>
                <a:cs typeface="Arial" panose="020B0604020202020204" pitchFamily="34" charset="0"/>
              </a:rPr>
              <a:t>anagement </a:t>
            </a:r>
            <a:r>
              <a:rPr lang="en-US" sz="1990" b="1" i="0" dirty="0">
                <a:solidFill>
                  <a:schemeClr val="tx1"/>
                </a:solidFill>
                <a:effectLst/>
                <a:latin typeface="Arial" panose="020B0604020202020204" pitchFamily="34" charset="0"/>
                <a:cs typeface="Arial" panose="020B0604020202020204" pitchFamily="34" charset="0"/>
              </a:rPr>
              <a:t>S</a:t>
            </a:r>
            <a:r>
              <a:rPr lang="en-US" sz="1990" b="0" i="0" dirty="0">
                <a:solidFill>
                  <a:schemeClr val="tx1"/>
                </a:solidFill>
                <a:effectLst/>
                <a:latin typeface="Arial" panose="020B0604020202020204" pitchFamily="34" charset="0"/>
                <a:cs typeface="Arial" panose="020B0604020202020204" pitchFamily="34" charset="0"/>
              </a:rPr>
              <a:t>ystem“. A relational database refers to a </a:t>
            </a:r>
            <a:r>
              <a:rPr lang="en-US" sz="1990" b="0" i="0" strike="noStrike" dirty="0">
                <a:solidFill>
                  <a:schemeClr val="tx1"/>
                </a:solidFill>
                <a:effectLst/>
                <a:latin typeface="Arial" panose="020B0604020202020204" pitchFamily="34" charset="0"/>
                <a:cs typeface="Arial" panose="020B0604020202020204" pitchFamily="34" charset="0"/>
              </a:rPr>
              <a:t>database</a:t>
            </a:r>
            <a:r>
              <a:rPr lang="en-US" sz="1990" b="0" i="0" dirty="0">
                <a:solidFill>
                  <a:schemeClr val="tx1"/>
                </a:solidFill>
                <a:effectLst/>
                <a:latin typeface="Arial" panose="020B0604020202020204" pitchFamily="34" charset="0"/>
                <a:cs typeface="Arial" panose="020B0604020202020204" pitchFamily="34" charset="0"/>
              </a:rPr>
              <a:t> that stores data in a structured format, using rows and columns. This makes it easy to locate and access specific values within the database. It is "relational" because the values within each table are related to each other. Tables may also be related to other tables. The relational structure makes it possible to run queries across multiple tables at once.</a:t>
            </a:r>
          </a:p>
          <a:p>
            <a:pPr algn="just">
              <a:lnSpc>
                <a:spcPct val="150000"/>
              </a:lnSpc>
              <a:spcBef>
                <a:spcPts val="0"/>
              </a:spcBef>
            </a:pPr>
            <a:r>
              <a:rPr lang="en-US" sz="2000" b="0" i="0" dirty="0">
                <a:solidFill>
                  <a:schemeClr val="tx1"/>
                </a:solidFill>
                <a:effectLst/>
                <a:latin typeface="Arial" panose="020B0604020202020204" pitchFamily="34" charset="0"/>
                <a:cs typeface="Arial" panose="020B0604020202020204" pitchFamily="34" charset="0"/>
              </a:rPr>
              <a:t>Most well known RDBMS are : Oracle Database, MySQL, PostgreSQL and SQL Server.</a:t>
            </a:r>
            <a:endParaRPr lang="en-US" sz="199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2405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80D7C-9454-4B26-9EAB-F769262D4BB7}"/>
              </a:ext>
            </a:extLst>
          </p:cNvPr>
          <p:cNvSpPr>
            <a:spLocks noGrp="1"/>
          </p:cNvSpPr>
          <p:nvPr>
            <p:ph type="title"/>
          </p:nvPr>
        </p:nvSpPr>
        <p:spPr>
          <a:xfrm>
            <a:off x="1715291" y="945533"/>
            <a:ext cx="8761413" cy="706964"/>
          </a:xfrm>
        </p:spPr>
        <p:txBody>
          <a:bodyPr/>
          <a:lstStyle/>
          <a:p>
            <a:pPr algn="ctr"/>
            <a:r>
              <a:rPr lang="en-US" sz="3600" b="1" dirty="0">
                <a:solidFill>
                  <a:schemeClr val="accent2">
                    <a:lumMod val="60000"/>
                    <a:lumOff val="40000"/>
                  </a:schemeClr>
                </a:solidFill>
                <a:effectLst>
                  <a:outerShdw blurRad="38100" dist="38100" dir="2700000" algn="tl">
                    <a:srgbClr val="000000">
                      <a:alpha val="43137"/>
                    </a:srgbClr>
                  </a:outerShdw>
                </a:effectLst>
              </a:rPr>
              <a:t>MySQL</a:t>
            </a:r>
            <a:endParaRPr lang="en-US"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F5AF9A7-0820-448E-A38C-82BE2AC741BD}"/>
              </a:ext>
            </a:extLst>
          </p:cNvPr>
          <p:cNvSpPr>
            <a:spLocks noGrp="1"/>
          </p:cNvSpPr>
          <p:nvPr>
            <p:ph idx="1"/>
          </p:nvPr>
        </p:nvSpPr>
        <p:spPr>
          <a:xfrm>
            <a:off x="425048" y="2377440"/>
            <a:ext cx="11341901" cy="4346917"/>
          </a:xfrm>
        </p:spPr>
        <p:txBody>
          <a:bodyPr>
            <a:normAutofit/>
          </a:bodyPr>
          <a:lstStyle/>
          <a:p>
            <a:pPr algn="just">
              <a:lnSpc>
                <a:spcPct val="150000"/>
              </a:lnSpc>
            </a:pPr>
            <a:r>
              <a:rPr lang="en-US" sz="1900" dirty="0">
                <a:solidFill>
                  <a:schemeClr val="tx1"/>
                </a:solidFill>
                <a:latin typeface="Arial" panose="020B0604020202020204" pitchFamily="34" charset="0"/>
                <a:cs typeface="Arial" panose="020B0604020202020204" pitchFamily="34" charset="0"/>
              </a:rPr>
              <a:t>MySQL stands for “My </a:t>
            </a:r>
            <a:r>
              <a:rPr lang="en-US" sz="1900" b="1" dirty="0">
                <a:solidFill>
                  <a:schemeClr val="tx1"/>
                </a:solidFill>
                <a:latin typeface="Arial" panose="020B0604020202020204" pitchFamily="34" charset="0"/>
                <a:cs typeface="Arial" panose="020B0604020202020204" pitchFamily="34" charset="0"/>
              </a:rPr>
              <a:t>S</a:t>
            </a:r>
            <a:r>
              <a:rPr lang="en-US" sz="1900" dirty="0">
                <a:solidFill>
                  <a:schemeClr val="tx1"/>
                </a:solidFill>
                <a:latin typeface="Arial" panose="020B0604020202020204" pitchFamily="34" charset="0"/>
                <a:cs typeface="Arial" panose="020B0604020202020204" pitchFamily="34" charset="0"/>
              </a:rPr>
              <a:t>tructured </a:t>
            </a:r>
            <a:r>
              <a:rPr lang="en-US" sz="1900" b="1" dirty="0">
                <a:solidFill>
                  <a:schemeClr val="tx1"/>
                </a:solidFill>
                <a:latin typeface="Arial" panose="020B0604020202020204" pitchFamily="34" charset="0"/>
                <a:cs typeface="Arial" panose="020B0604020202020204" pitchFamily="34" charset="0"/>
              </a:rPr>
              <a:t>Q</a:t>
            </a:r>
            <a:r>
              <a:rPr lang="en-US" sz="1900" dirty="0">
                <a:solidFill>
                  <a:schemeClr val="tx1"/>
                </a:solidFill>
                <a:latin typeface="Arial" panose="020B0604020202020204" pitchFamily="34" charset="0"/>
                <a:cs typeface="Arial" panose="020B0604020202020204" pitchFamily="34" charset="0"/>
              </a:rPr>
              <a:t>uery </a:t>
            </a:r>
            <a:r>
              <a:rPr lang="en-US" sz="1900" b="1" dirty="0">
                <a:solidFill>
                  <a:schemeClr val="tx1"/>
                </a:solidFill>
                <a:latin typeface="Arial" panose="020B0604020202020204" pitchFamily="34" charset="0"/>
                <a:cs typeface="Arial" panose="020B0604020202020204" pitchFamily="34" charset="0"/>
              </a:rPr>
              <a:t>L</a:t>
            </a:r>
            <a:r>
              <a:rPr lang="en-US" sz="1900" dirty="0">
                <a:solidFill>
                  <a:schemeClr val="tx1"/>
                </a:solidFill>
                <a:latin typeface="Arial" panose="020B0604020202020204" pitchFamily="34" charset="0"/>
                <a:cs typeface="Arial" panose="020B0604020202020204" pitchFamily="34" charset="0"/>
              </a:rPr>
              <a:t>anguage”, </a:t>
            </a:r>
            <a:r>
              <a:rPr lang="en-US" sz="1900" b="0" i="0" dirty="0">
                <a:solidFill>
                  <a:schemeClr val="tx1"/>
                </a:solidFill>
                <a:effectLst/>
                <a:latin typeface="Arial" panose="020B0604020202020204" pitchFamily="34" charset="0"/>
                <a:cs typeface="Arial" panose="020B0604020202020204" pitchFamily="34" charset="0"/>
              </a:rPr>
              <a:t>is an open source relational database management system. Many database-driven websites that use MySQL also use a Web scripting language like PHP to access information from the database.</a:t>
            </a:r>
          </a:p>
          <a:p>
            <a:pPr algn="just">
              <a:lnSpc>
                <a:spcPct val="150000"/>
              </a:lnSpc>
            </a:pPr>
            <a:r>
              <a:rPr lang="en-US" sz="1900" b="1" i="0" dirty="0">
                <a:solidFill>
                  <a:schemeClr val="tx1"/>
                </a:solidFill>
                <a:effectLst/>
                <a:latin typeface="Arial" panose="020B0604020202020204" pitchFamily="34" charset="0"/>
                <a:cs typeface="Arial" panose="020B0604020202020204" pitchFamily="34" charset="0"/>
              </a:rPr>
              <a:t>MySQL</a:t>
            </a:r>
            <a:r>
              <a:rPr lang="en-US" sz="1900" b="0" i="0" dirty="0">
                <a:solidFill>
                  <a:schemeClr val="tx1"/>
                </a:solidFill>
                <a:effectLst/>
                <a:latin typeface="Arial" panose="020B0604020202020204" pitchFamily="34" charset="0"/>
                <a:cs typeface="Arial" panose="020B0604020202020204" pitchFamily="34" charset="0"/>
              </a:rPr>
              <a:t> has a client-server architecture and can be used in a networked environment, the main processes taking place in a MySQL environment are the same, which are:</a:t>
            </a:r>
          </a:p>
          <a:p>
            <a:pPr algn="l">
              <a:buFont typeface="+mj-lt"/>
              <a:buAutoNum type="arabicPeriod"/>
            </a:pPr>
            <a:r>
              <a:rPr lang="en-US" sz="1900" b="0" i="0" dirty="0">
                <a:solidFill>
                  <a:schemeClr val="tx1"/>
                </a:solidFill>
                <a:effectLst/>
                <a:latin typeface="Arial" panose="020B0604020202020204" pitchFamily="34" charset="0"/>
                <a:cs typeface="Arial" panose="020B0604020202020204" pitchFamily="34" charset="0"/>
              </a:rPr>
              <a:t>MySQL creates a database for storing and manipulating data, defining the relationship of each table.</a:t>
            </a:r>
          </a:p>
          <a:p>
            <a:pPr algn="l">
              <a:buFont typeface="+mj-lt"/>
              <a:buAutoNum type="arabicPeriod"/>
            </a:pPr>
            <a:r>
              <a:rPr lang="en-US" sz="1900" b="0" i="0" dirty="0">
                <a:solidFill>
                  <a:schemeClr val="tx1"/>
                </a:solidFill>
                <a:effectLst/>
                <a:latin typeface="Arial" panose="020B0604020202020204" pitchFamily="34" charset="0"/>
                <a:cs typeface="Arial" panose="020B0604020202020204" pitchFamily="34" charset="0"/>
              </a:rPr>
              <a:t>Clients can make requests by typing specific SQL statements on MySQL.</a:t>
            </a:r>
          </a:p>
          <a:p>
            <a:pPr algn="l">
              <a:buFont typeface="+mj-lt"/>
              <a:buAutoNum type="arabicPeriod"/>
            </a:pPr>
            <a:r>
              <a:rPr lang="en-US" sz="1870" b="0" i="0" dirty="0">
                <a:solidFill>
                  <a:schemeClr val="tx1"/>
                </a:solidFill>
                <a:effectLst/>
                <a:latin typeface="Arial" panose="020B0604020202020204" pitchFamily="34" charset="0"/>
                <a:cs typeface="Arial" panose="020B0604020202020204" pitchFamily="34" charset="0"/>
              </a:rPr>
              <a:t>The server application will respond with the requested information and it will appear on the clients side.</a:t>
            </a:r>
          </a:p>
          <a:p>
            <a:pPr algn="just">
              <a:lnSpc>
                <a:spcPct val="150000"/>
              </a:lnSpc>
            </a:pPr>
            <a:endParaRPr lang="en-US" sz="1900" u="sng"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0682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05FE8-3F0D-4DA3-9895-8ADDDEA60B6B}"/>
              </a:ext>
            </a:extLst>
          </p:cNvPr>
          <p:cNvSpPr>
            <a:spLocks noGrp="1"/>
          </p:cNvSpPr>
          <p:nvPr>
            <p:ph type="title"/>
          </p:nvPr>
        </p:nvSpPr>
        <p:spPr>
          <a:xfrm>
            <a:off x="1715292" y="978877"/>
            <a:ext cx="8761413" cy="706964"/>
          </a:xfrm>
        </p:spPr>
        <p:txBody>
          <a:bodyPr/>
          <a:lstStyle/>
          <a:p>
            <a:pPr algn="ctr"/>
            <a:r>
              <a:rPr lang="en-US" sz="4000" b="1" dirty="0">
                <a:solidFill>
                  <a:schemeClr val="accent2">
                    <a:lumMod val="60000"/>
                    <a:lumOff val="40000"/>
                  </a:schemeClr>
                </a:solidFill>
                <a:effectLst>
                  <a:outerShdw blurRad="38100" dist="38100" dir="2700000" algn="tl">
                    <a:srgbClr val="000000">
                      <a:alpha val="43137"/>
                    </a:srgbClr>
                  </a:outerShdw>
                </a:effectLst>
              </a:rPr>
              <a:t>PostgreSQL</a:t>
            </a:r>
            <a:endParaRPr lang="en-US" sz="4000"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69052F0-E3F8-4BA4-A878-8C1871160111}"/>
              </a:ext>
            </a:extLst>
          </p:cNvPr>
          <p:cNvSpPr>
            <a:spLocks noGrp="1"/>
          </p:cNvSpPr>
          <p:nvPr>
            <p:ph idx="1"/>
          </p:nvPr>
        </p:nvSpPr>
        <p:spPr>
          <a:xfrm>
            <a:off x="520854" y="2462823"/>
            <a:ext cx="11150290" cy="3416300"/>
          </a:xfrm>
        </p:spPr>
        <p:txBody>
          <a:bodyPr>
            <a:normAutofit/>
          </a:bodyPr>
          <a:lstStyle/>
          <a:p>
            <a:pPr algn="just">
              <a:lnSpc>
                <a:spcPct val="150000"/>
              </a:lnSpc>
            </a:pPr>
            <a:r>
              <a:rPr lang="en-US" sz="2000" b="1" i="0" dirty="0">
                <a:solidFill>
                  <a:srgbClr val="000000"/>
                </a:solidFill>
                <a:effectLst/>
                <a:latin typeface="Arial" panose="020B0604020202020204" pitchFamily="34" charset="0"/>
                <a:cs typeface="Arial" panose="020B0604020202020204" pitchFamily="34" charset="0"/>
              </a:rPr>
              <a:t>PostgreSQL</a:t>
            </a:r>
            <a:r>
              <a:rPr lang="en-US" sz="2000" i="0" dirty="0">
                <a:solidFill>
                  <a:srgbClr val="000000"/>
                </a:solidFill>
                <a:effectLst/>
                <a:latin typeface="Arial" panose="020B0604020202020204" pitchFamily="34" charset="0"/>
                <a:cs typeface="Arial" panose="020B0604020202020204" pitchFamily="34" charset="0"/>
              </a:rPr>
              <a:t> is an advanced, enterprise-class, and open-source relational database system. PostgreSQL supports both SQL (relational) and JSON (non-relational) querying.</a:t>
            </a:r>
          </a:p>
          <a:p>
            <a:pPr algn="just">
              <a:lnSpc>
                <a:spcPct val="150000"/>
              </a:lnSpc>
            </a:pPr>
            <a:r>
              <a:rPr lang="en-US" sz="2000" b="1" i="0" dirty="0">
                <a:solidFill>
                  <a:schemeClr val="tx1"/>
                </a:solidFill>
                <a:effectLst/>
                <a:latin typeface="Arial" panose="020B0604020202020204" pitchFamily="34" charset="0"/>
                <a:cs typeface="Arial" panose="020B0604020202020204" pitchFamily="34" charset="0"/>
              </a:rPr>
              <a:t>PostgreSQL</a:t>
            </a:r>
            <a:r>
              <a:rPr lang="en-US" sz="2000" i="0" dirty="0">
                <a:solidFill>
                  <a:schemeClr val="tx1"/>
                </a:solidFill>
                <a:effectLst/>
                <a:latin typeface="Arial" panose="020B0604020202020204" pitchFamily="34" charset="0"/>
                <a:cs typeface="Arial" panose="020B0604020202020204" pitchFamily="34" charset="0"/>
              </a:rPr>
              <a:t> uses a client-server model where the client and the server can reside on different hosts in a networked environment. The server program manages the database files, accepts connections to the database from client applications. It can handle multiple concurrent connections from clients by “forking” a new process for each connection. It executes database requests from clients and sends the results back to the clients.</a:t>
            </a:r>
            <a:endParaRPr lang="en-US" sz="2000" dirty="0">
              <a:solidFill>
                <a:schemeClr val="tx1"/>
              </a:solidFill>
              <a:latin typeface="Arial" panose="020B0604020202020204" pitchFamily="34" charset="0"/>
              <a:cs typeface="Arial" panose="020B0604020202020204" pitchFamily="34" charset="0"/>
            </a:endParaRPr>
          </a:p>
        </p:txBody>
      </p:sp>
      <p:pic>
        <p:nvPicPr>
          <p:cNvPr id="4" name="Image 3">
            <a:extLst>
              <a:ext uri="{FF2B5EF4-FFF2-40B4-BE49-F238E27FC236}">
                <a16:creationId xmlns:a16="http://schemas.microsoft.com/office/drawing/2014/main" id="{66751184-7A75-42A0-82DC-87E0A8E3B7F0}"/>
              </a:ext>
            </a:extLst>
          </p:cNvPr>
          <p:cNvPicPr>
            <a:picLocks noChangeAspect="1"/>
          </p:cNvPicPr>
          <p:nvPr/>
        </p:nvPicPr>
        <p:blipFill>
          <a:blip r:embed="rId2"/>
          <a:stretch>
            <a:fillRect/>
          </a:stretch>
        </p:blipFill>
        <p:spPr>
          <a:xfrm>
            <a:off x="9562630" y="5743655"/>
            <a:ext cx="2108514" cy="713707"/>
          </a:xfrm>
          <a:prstGeom prst="rect">
            <a:avLst/>
          </a:prstGeom>
        </p:spPr>
      </p:pic>
    </p:spTree>
    <p:extLst>
      <p:ext uri="{BB962C8B-B14F-4D97-AF65-F5344CB8AC3E}">
        <p14:creationId xmlns:p14="http://schemas.microsoft.com/office/powerpoint/2010/main" val="1611643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C3267-ED30-40B4-9FB3-CAC3553012C1}"/>
              </a:ext>
            </a:extLst>
          </p:cNvPr>
          <p:cNvSpPr>
            <a:spLocks noGrp="1"/>
          </p:cNvSpPr>
          <p:nvPr>
            <p:ph type="title"/>
          </p:nvPr>
        </p:nvSpPr>
        <p:spPr>
          <a:xfrm>
            <a:off x="1715292" y="917871"/>
            <a:ext cx="8761413" cy="706964"/>
          </a:xfrm>
        </p:spPr>
        <p:txBody>
          <a:bodyPr/>
          <a:lstStyle/>
          <a:p>
            <a:pPr algn="ctr"/>
            <a:r>
              <a:rPr lang="en-US" sz="4000" b="1" dirty="0">
                <a:solidFill>
                  <a:schemeClr val="accent2">
                    <a:lumMod val="60000"/>
                    <a:lumOff val="40000"/>
                  </a:schemeClr>
                </a:solidFill>
                <a:effectLst>
                  <a:outerShdw blurRad="38100" dist="38100" dir="2700000" algn="tl">
                    <a:srgbClr val="000000">
                      <a:alpha val="43137"/>
                    </a:srgbClr>
                  </a:outerShdw>
                </a:effectLst>
              </a:rPr>
              <a:t>SQL SERVER</a:t>
            </a:r>
            <a:endParaRPr lang="en-US" sz="4000"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BAC0D93-3A0F-41EC-9A33-C3B69F05CA55}"/>
              </a:ext>
            </a:extLst>
          </p:cNvPr>
          <p:cNvSpPr>
            <a:spLocks noGrp="1"/>
          </p:cNvSpPr>
          <p:nvPr>
            <p:ph idx="1"/>
          </p:nvPr>
        </p:nvSpPr>
        <p:spPr>
          <a:xfrm>
            <a:off x="661530" y="2589432"/>
            <a:ext cx="10868936" cy="3614420"/>
          </a:xfrm>
        </p:spPr>
        <p:txBody>
          <a:bodyPr>
            <a:normAutofit/>
          </a:bodyPr>
          <a:lstStyle/>
          <a:p>
            <a:pPr algn="just">
              <a:lnSpc>
                <a:spcPct val="150000"/>
              </a:lnSpc>
            </a:pPr>
            <a:r>
              <a:rPr lang="en-US" sz="2000" i="0" dirty="0">
                <a:solidFill>
                  <a:schemeClr val="tx1"/>
                </a:solidFill>
                <a:effectLst/>
                <a:latin typeface="Arial" panose="020B0604020202020204" pitchFamily="34" charset="0"/>
                <a:cs typeface="Arial" panose="020B0604020202020204" pitchFamily="34" charset="0"/>
              </a:rPr>
              <a:t>Microsoft SQL Server </a:t>
            </a:r>
            <a:r>
              <a:rPr lang="en-US" sz="2000" i="0" dirty="0">
                <a:solidFill>
                  <a:schemeClr val="tx1"/>
                </a:solidFill>
                <a:latin typeface="Arial" panose="020B0604020202020204" pitchFamily="34" charset="0"/>
                <a:cs typeface="Arial" panose="020B0604020202020204" pitchFamily="34" charset="0"/>
              </a:rPr>
              <a:t>is a relational database management system developed by Microsoft, </a:t>
            </a:r>
            <a:r>
              <a:rPr lang="en-US" sz="2000" i="0" dirty="0">
                <a:solidFill>
                  <a:schemeClr val="tx1"/>
                </a:solidFill>
                <a:effectLst/>
                <a:latin typeface="Arial" panose="020B0604020202020204" pitchFamily="34" charset="0"/>
                <a:cs typeface="Arial" panose="020B0604020202020204" pitchFamily="34" charset="0"/>
              </a:rPr>
              <a:t>that supports a wide variety of transaction processing, business intelligence and analysis applications in enterprise IT environments.</a:t>
            </a:r>
          </a:p>
          <a:p>
            <a:pPr algn="just">
              <a:lnSpc>
                <a:spcPct val="150000"/>
              </a:lnSpc>
            </a:pPr>
            <a:r>
              <a:rPr lang="en-US" sz="2000" dirty="0">
                <a:solidFill>
                  <a:schemeClr val="tx1"/>
                </a:solidFill>
                <a:latin typeface="Arial" panose="020B0604020202020204" pitchFamily="34" charset="0"/>
                <a:cs typeface="Arial" panose="020B0604020202020204" pitchFamily="34" charset="0"/>
              </a:rPr>
              <a:t>SQL Server is primarily built around a row-based table structure that ties together related data items in different tables, avoiding the need to redundantly store data in multiple locations within a database.</a:t>
            </a:r>
          </a:p>
        </p:txBody>
      </p:sp>
      <p:pic>
        <p:nvPicPr>
          <p:cNvPr id="4" name="Image 3">
            <a:extLst>
              <a:ext uri="{FF2B5EF4-FFF2-40B4-BE49-F238E27FC236}">
                <a16:creationId xmlns:a16="http://schemas.microsoft.com/office/drawing/2014/main" id="{6C57D282-B54D-4CCD-9326-91E1EF35F7C8}"/>
              </a:ext>
            </a:extLst>
          </p:cNvPr>
          <p:cNvPicPr>
            <a:picLocks noChangeAspect="1"/>
          </p:cNvPicPr>
          <p:nvPr/>
        </p:nvPicPr>
        <p:blipFill>
          <a:blip r:embed="rId2"/>
          <a:stretch>
            <a:fillRect/>
          </a:stretch>
        </p:blipFill>
        <p:spPr>
          <a:xfrm>
            <a:off x="9419678" y="5267794"/>
            <a:ext cx="1979140" cy="1233075"/>
          </a:xfrm>
          <a:prstGeom prst="rect">
            <a:avLst/>
          </a:prstGeom>
        </p:spPr>
      </p:pic>
    </p:spTree>
    <p:extLst>
      <p:ext uri="{BB962C8B-B14F-4D97-AF65-F5344CB8AC3E}">
        <p14:creationId xmlns:p14="http://schemas.microsoft.com/office/powerpoint/2010/main" val="4238002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C1AAD-C88A-4287-AF71-ED5440254AEA}"/>
              </a:ext>
            </a:extLst>
          </p:cNvPr>
          <p:cNvSpPr>
            <a:spLocks noGrp="1"/>
          </p:cNvSpPr>
          <p:nvPr>
            <p:ph type="title"/>
          </p:nvPr>
        </p:nvSpPr>
        <p:spPr>
          <a:xfrm>
            <a:off x="1280161" y="590844"/>
            <a:ext cx="9417905" cy="1533378"/>
          </a:xfrm>
        </p:spPr>
        <p:txBody>
          <a:bodyPr/>
          <a:lstStyle/>
          <a:p>
            <a:pPr algn="ctr"/>
            <a:r>
              <a:rPr lang="en-US" sz="3600" b="1" dirty="0">
                <a:solidFill>
                  <a:schemeClr val="accent2">
                    <a:lumMod val="60000"/>
                    <a:lumOff val="40000"/>
                  </a:schemeClr>
                </a:solidFill>
                <a:effectLst>
                  <a:outerShdw blurRad="38100" dist="38100" dir="2700000" algn="tl">
                    <a:srgbClr val="000000">
                      <a:alpha val="43137"/>
                    </a:srgbClr>
                  </a:outerShdw>
                </a:effectLst>
              </a:rPr>
              <a:t>the difference between MySQL, PostgreSQL and SQL server ?</a:t>
            </a:r>
            <a:endParaRPr lang="en-US"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219A1014-445C-43E5-BDA5-4C9C8C0049C9}"/>
              </a:ext>
            </a:extLst>
          </p:cNvPr>
          <p:cNvSpPr>
            <a:spLocks noGrp="1"/>
          </p:cNvSpPr>
          <p:nvPr>
            <p:ph idx="1"/>
          </p:nvPr>
        </p:nvSpPr>
        <p:spPr>
          <a:xfrm>
            <a:off x="898689" y="2603500"/>
            <a:ext cx="10394621" cy="3416300"/>
          </a:xfrm>
        </p:spPr>
        <p:txBody>
          <a:bodyPr/>
          <a:lstStyle/>
          <a:p>
            <a:pPr algn="just">
              <a:lnSpc>
                <a:spcPct val="150000"/>
              </a:lnSpc>
            </a:pPr>
            <a:r>
              <a:rPr lang="en-US" sz="2000" b="1" i="0" dirty="0">
                <a:solidFill>
                  <a:schemeClr val="tx1"/>
                </a:solidFill>
                <a:effectLst/>
                <a:latin typeface="Arial" panose="020B0604020202020204" pitchFamily="34" charset="0"/>
                <a:cs typeface="Arial" panose="020B0604020202020204" pitchFamily="34" charset="0"/>
              </a:rPr>
              <a:t>PostgreSQL</a:t>
            </a:r>
            <a:r>
              <a:rPr lang="en-US" sz="2000" i="0" dirty="0">
                <a:solidFill>
                  <a:schemeClr val="tx1"/>
                </a:solidFill>
                <a:effectLst/>
                <a:latin typeface="Arial" panose="020B0604020202020204" pitchFamily="34" charset="0"/>
                <a:cs typeface="Arial" panose="020B0604020202020204" pitchFamily="34" charset="0"/>
              </a:rPr>
              <a:t>, </a:t>
            </a:r>
            <a:r>
              <a:rPr lang="en-US" sz="2000" b="1" i="0" dirty="0">
                <a:solidFill>
                  <a:schemeClr val="tx1"/>
                </a:solidFill>
                <a:effectLst/>
                <a:latin typeface="Arial" panose="020B0604020202020204" pitchFamily="34" charset="0"/>
                <a:cs typeface="Arial" panose="020B0604020202020204" pitchFamily="34" charset="0"/>
              </a:rPr>
              <a:t>MySQL</a:t>
            </a:r>
            <a:r>
              <a:rPr lang="en-US" sz="2000" i="0" dirty="0">
                <a:solidFill>
                  <a:schemeClr val="tx1"/>
                </a:solidFill>
                <a:effectLst/>
                <a:latin typeface="Arial" panose="020B0604020202020204" pitchFamily="34" charset="0"/>
                <a:cs typeface="Arial" panose="020B0604020202020204" pitchFamily="34" charset="0"/>
              </a:rPr>
              <a:t>, and SQLite use very similar syntax, with some notable differences highlighted below. </a:t>
            </a:r>
            <a:r>
              <a:rPr lang="en-US" sz="2000" b="1" i="0" dirty="0">
                <a:solidFill>
                  <a:schemeClr val="tx1"/>
                </a:solidFill>
                <a:effectLst/>
                <a:latin typeface="Arial" panose="020B0604020202020204" pitchFamily="34" charset="0"/>
                <a:cs typeface="Arial" panose="020B0604020202020204" pitchFamily="34" charset="0"/>
              </a:rPr>
              <a:t>Microsoft SQL Server</a:t>
            </a:r>
            <a:r>
              <a:rPr lang="en-US" sz="2000" i="0" dirty="0">
                <a:solidFill>
                  <a:schemeClr val="tx1"/>
                </a:solidFill>
                <a:effectLst/>
                <a:latin typeface="Arial" panose="020B0604020202020204" pitchFamily="34" charset="0"/>
                <a:cs typeface="Arial" panose="020B0604020202020204" pitchFamily="34" charset="0"/>
              </a:rPr>
              <a:t> has the greatest contrast in SQL syntax, as well as a wide variety of functions not available in other platforms.</a:t>
            </a:r>
          </a:p>
          <a:p>
            <a:pPr algn="just">
              <a:lnSpc>
                <a:spcPct val="150000"/>
              </a:lnSpc>
            </a:pPr>
            <a:endParaRPr lang="en-US" dirty="0">
              <a:solidFill>
                <a:schemeClr val="tx1"/>
              </a:solidFill>
            </a:endParaRPr>
          </a:p>
        </p:txBody>
      </p:sp>
    </p:spTree>
    <p:extLst>
      <p:ext uri="{BB962C8B-B14F-4D97-AF65-F5344CB8AC3E}">
        <p14:creationId xmlns:p14="http://schemas.microsoft.com/office/powerpoint/2010/main" val="1237782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5">
            <a:extLst>
              <a:ext uri="{FF2B5EF4-FFF2-40B4-BE49-F238E27FC236}">
                <a16:creationId xmlns:a16="http://schemas.microsoft.com/office/drawing/2014/main" id="{393E4AEA-54F6-46A6-A82A-3CD993BE3BE0}"/>
              </a:ext>
            </a:extLst>
          </p:cNvPr>
          <p:cNvGraphicFramePr>
            <a:graphicFrameLocks noGrp="1"/>
          </p:cNvGraphicFramePr>
          <p:nvPr>
            <p:extLst>
              <p:ext uri="{D42A27DB-BD31-4B8C-83A1-F6EECF244321}">
                <p14:modId xmlns:p14="http://schemas.microsoft.com/office/powerpoint/2010/main" val="3840709981"/>
              </p:ext>
            </p:extLst>
          </p:nvPr>
        </p:nvGraphicFramePr>
        <p:xfrm>
          <a:off x="0" y="-1"/>
          <a:ext cx="12192000" cy="7371472"/>
        </p:xfrm>
        <a:graphic>
          <a:graphicData uri="http://schemas.openxmlformats.org/drawingml/2006/table">
            <a:tbl>
              <a:tblPr firstRow="1" bandRow="1">
                <a:tableStyleId>{00A15C55-8517-42AA-B614-E9B94910E393}</a:tableStyleId>
              </a:tblPr>
              <a:tblGrid>
                <a:gridCol w="2475914">
                  <a:extLst>
                    <a:ext uri="{9D8B030D-6E8A-4147-A177-3AD203B41FA5}">
                      <a16:colId xmlns:a16="http://schemas.microsoft.com/office/drawing/2014/main" val="167818190"/>
                    </a:ext>
                  </a:extLst>
                </a:gridCol>
                <a:gridCol w="3263704">
                  <a:extLst>
                    <a:ext uri="{9D8B030D-6E8A-4147-A177-3AD203B41FA5}">
                      <a16:colId xmlns:a16="http://schemas.microsoft.com/office/drawing/2014/main" val="63717116"/>
                    </a:ext>
                  </a:extLst>
                </a:gridCol>
                <a:gridCol w="3193367">
                  <a:extLst>
                    <a:ext uri="{9D8B030D-6E8A-4147-A177-3AD203B41FA5}">
                      <a16:colId xmlns:a16="http://schemas.microsoft.com/office/drawing/2014/main" val="4241766758"/>
                    </a:ext>
                  </a:extLst>
                </a:gridCol>
                <a:gridCol w="3259015">
                  <a:extLst>
                    <a:ext uri="{9D8B030D-6E8A-4147-A177-3AD203B41FA5}">
                      <a16:colId xmlns:a16="http://schemas.microsoft.com/office/drawing/2014/main" val="4179138942"/>
                    </a:ext>
                  </a:extLst>
                </a:gridCol>
              </a:tblGrid>
              <a:tr h="596237">
                <a:tc>
                  <a:txBody>
                    <a:bodyPr/>
                    <a:lstStyle/>
                    <a:p>
                      <a:pPr algn="ctr"/>
                      <a:endParaRPr lang="en-US" sz="1800" b="1" dirty="0">
                        <a:solidFill>
                          <a:schemeClr val="bg1"/>
                        </a:solidFill>
                        <a:latin typeface="Arial" panose="020B0604020202020204" pitchFamily="34" charset="0"/>
                        <a:cs typeface="Arial" panose="020B0604020202020204" pitchFamily="34" charset="0"/>
                      </a:endParaRPr>
                    </a:p>
                  </a:txBody>
                  <a:tcPr anchor="ctr"/>
                </a:tc>
                <a:tc>
                  <a:txBody>
                    <a:bodyPr/>
                    <a:lstStyle/>
                    <a:p>
                      <a:pPr algn="ctr"/>
                      <a:r>
                        <a:rPr lang="en-US" sz="1800" b="1" kern="1200" dirty="0">
                          <a:solidFill>
                            <a:schemeClr val="bg1"/>
                          </a:solidFill>
                          <a:effectLst/>
                        </a:rPr>
                        <a:t>Microsoft SQL Server</a:t>
                      </a:r>
                      <a:endParaRPr lang="en-US" sz="1800" b="1" dirty="0">
                        <a:solidFill>
                          <a:schemeClr val="bg1"/>
                        </a:solidFill>
                        <a:latin typeface="Arial" panose="020B0604020202020204" pitchFamily="34" charset="0"/>
                        <a:cs typeface="Arial" panose="020B0604020202020204" pitchFamily="34" charset="0"/>
                      </a:endParaRPr>
                    </a:p>
                  </a:txBody>
                  <a:tcPr anchor="ctr"/>
                </a:tc>
                <a:tc>
                  <a:txBody>
                    <a:bodyPr/>
                    <a:lstStyle/>
                    <a:p>
                      <a:pPr algn="ctr"/>
                      <a:r>
                        <a:rPr lang="en-US" sz="1800" b="1" kern="1200" dirty="0">
                          <a:solidFill>
                            <a:schemeClr val="bg1"/>
                          </a:solidFill>
                          <a:effectLst/>
                        </a:rPr>
                        <a:t>MySQL  </a:t>
                      </a:r>
                      <a:endParaRPr lang="en-US" sz="1800" b="1" dirty="0">
                        <a:solidFill>
                          <a:schemeClr val="bg1"/>
                        </a:solidFill>
                        <a:latin typeface="Arial" panose="020B0604020202020204" pitchFamily="34" charset="0"/>
                        <a:cs typeface="Arial" panose="020B0604020202020204" pitchFamily="34" charset="0"/>
                      </a:endParaRPr>
                    </a:p>
                  </a:txBody>
                  <a:tcPr anchor="ctr"/>
                </a:tc>
                <a:tc>
                  <a:txBody>
                    <a:bodyPr/>
                    <a:lstStyle/>
                    <a:p>
                      <a:pPr algn="ctr"/>
                      <a:r>
                        <a:rPr lang="en-US" sz="1800" b="1" kern="1200" dirty="0">
                          <a:solidFill>
                            <a:schemeClr val="bg1"/>
                          </a:solidFill>
                          <a:effectLst/>
                        </a:rPr>
                        <a:t>PostgreSQL</a:t>
                      </a:r>
                      <a:endParaRPr lang="en-US" sz="1800" b="1" dirty="0">
                        <a:solidFill>
                          <a:schemeClr val="bg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41644801"/>
                  </a:ext>
                </a:extLst>
              </a:tr>
              <a:tr h="828107">
                <a:tc>
                  <a:txBody>
                    <a:bodyPr/>
                    <a:lstStyle/>
                    <a:p>
                      <a:r>
                        <a:rPr lang="en-US" sz="1800" b="0" kern="1200" dirty="0">
                          <a:solidFill>
                            <a:schemeClr val="tx1"/>
                          </a:solidFill>
                          <a:effectLst/>
                        </a:rPr>
                        <a:t>Description</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Microsoft’s relational DBMS</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Widely used open source </a:t>
                      </a:r>
                      <a:r>
                        <a:rPr lang="en-US" sz="1800" b="0" u="none" strike="noStrike" kern="1200" dirty="0">
                          <a:solidFill>
                            <a:schemeClr val="tx1"/>
                          </a:solidFill>
                          <a:effectLst/>
                        </a:rPr>
                        <a:t>RDBMS</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Widely used open source </a:t>
                      </a:r>
                      <a:r>
                        <a:rPr lang="en-US" sz="1800" b="0" u="none" strike="noStrike" kern="1200" dirty="0">
                          <a:solidFill>
                            <a:schemeClr val="tx1"/>
                          </a:solidFill>
                          <a:effectLst/>
                        </a:rPr>
                        <a:t>RDBMS</a:t>
                      </a:r>
                      <a:endParaRPr lang="en-US" b="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9670588"/>
                  </a:ext>
                </a:extLst>
              </a:tr>
              <a:tr h="894354">
                <a:tc>
                  <a:txBody>
                    <a:bodyPr/>
                    <a:lstStyle/>
                    <a:p>
                      <a:pPr fontAlgn="t"/>
                      <a:r>
                        <a:rPr lang="en-US" b="0" u="none" strike="noStrike" dirty="0">
                          <a:solidFill>
                            <a:schemeClr val="tx1"/>
                          </a:solidFill>
                          <a:effectLst/>
                        </a:rPr>
                        <a:t>DB-Engines Ranking</a:t>
                      </a:r>
                      <a:endParaRPr lang="en-US" b="0" u="none" strike="noStrike" dirty="0">
                        <a:solidFill>
                          <a:schemeClr val="tx1"/>
                        </a:solidFill>
                        <a:effectLst/>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Rank : </a:t>
                      </a:r>
                      <a:r>
                        <a:rPr lang="en-US" b="0" dirty="0">
                          <a:solidFill>
                            <a:schemeClr val="tx1"/>
                          </a:solidFill>
                        </a:rPr>
                        <a:t>#3 Relational DBMS</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Rank : </a:t>
                      </a:r>
                      <a:r>
                        <a:rPr lang="en-US" b="0" dirty="0">
                          <a:solidFill>
                            <a:schemeClr val="tx1"/>
                          </a:solidFill>
                        </a:rPr>
                        <a:t>#2 Relational DBMS</a:t>
                      </a:r>
                    </a:p>
                    <a:p>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Rank : </a:t>
                      </a:r>
                      <a:r>
                        <a:rPr lang="en-US" b="0" dirty="0">
                          <a:solidFill>
                            <a:schemeClr val="tx1"/>
                          </a:solidFill>
                        </a:rPr>
                        <a:t>#4 Relational DBMS</a:t>
                      </a:r>
                    </a:p>
                    <a:p>
                      <a:endParaRPr lang="en-US" b="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22908424"/>
                  </a:ext>
                </a:extLst>
              </a:tr>
              <a:tr h="844668">
                <a:tc>
                  <a:txBody>
                    <a:bodyPr/>
                    <a:lstStyle/>
                    <a:p>
                      <a:r>
                        <a:rPr lang="en-US" sz="1800" b="0" kern="1200" dirty="0">
                          <a:solidFill>
                            <a:schemeClr val="tx1"/>
                          </a:solidFill>
                          <a:effectLst/>
                        </a:rPr>
                        <a:t>Developer</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Microsoft</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Oracle </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sz="1800" b="0" kern="1200" dirty="0">
                          <a:solidFill>
                            <a:schemeClr val="tx1"/>
                          </a:solidFill>
                          <a:effectLst/>
                        </a:rPr>
                        <a:t>PostgreSQL Global Development Group</a:t>
                      </a:r>
                      <a:endParaRPr lang="en-US" b="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45186537"/>
                  </a:ext>
                </a:extLst>
              </a:tr>
              <a:tr h="1009255">
                <a:tc>
                  <a:txBody>
                    <a:bodyPr/>
                    <a:lstStyle/>
                    <a:p>
                      <a:r>
                        <a:rPr lang="en-US" sz="1800" b="0" kern="1200" dirty="0">
                          <a:solidFill>
                            <a:schemeClr val="tx1"/>
                          </a:solidFill>
                          <a:effectLst/>
                        </a:rPr>
                        <a:t>Implementation language</a:t>
                      </a:r>
                    </a:p>
                  </a:txBody>
                  <a:tcPr anchor="ctr"/>
                </a:tc>
                <a:tc>
                  <a:txBody>
                    <a:bodyPr/>
                    <a:lstStyle/>
                    <a:p>
                      <a:r>
                        <a:rPr lang="en-US" b="0" dirty="0">
                          <a:solidFill>
                            <a:schemeClr val="tx1"/>
                          </a:solidFill>
                        </a:rPr>
                        <a:t>C++</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b="0" dirty="0">
                          <a:solidFill>
                            <a:schemeClr val="tx1"/>
                          </a:solidFill>
                        </a:rPr>
                        <a:t>C++</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b="0" dirty="0">
                          <a:solidFill>
                            <a:schemeClr val="tx1"/>
                          </a:solidFill>
                        </a:rPr>
                        <a:t>C</a:t>
                      </a:r>
                      <a:endParaRPr lang="en-US" b="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12485479"/>
                  </a:ext>
                </a:extLst>
              </a:tr>
              <a:tr h="514461">
                <a:tc>
                  <a:txBody>
                    <a:bodyPr/>
                    <a:lstStyle/>
                    <a:p>
                      <a:r>
                        <a:rPr lang="en-US" sz="1800" b="0" kern="1200" dirty="0">
                          <a:solidFill>
                            <a:schemeClr val="tx1"/>
                          </a:solidFill>
                          <a:effectLst/>
                        </a:rPr>
                        <a:t>Data scheme</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b="0" dirty="0">
                          <a:solidFill>
                            <a:schemeClr val="tx1"/>
                          </a:solidFill>
                        </a:rPr>
                        <a:t>Yes</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b="0" dirty="0">
                          <a:solidFill>
                            <a:schemeClr val="tx1"/>
                          </a:solidFill>
                        </a:rPr>
                        <a:t>Yes</a:t>
                      </a:r>
                      <a:endParaRPr lang="en-US" b="0" dirty="0">
                        <a:solidFill>
                          <a:schemeClr val="tx1"/>
                        </a:solidFill>
                        <a:latin typeface="Arial" panose="020B0604020202020204" pitchFamily="34" charset="0"/>
                        <a:cs typeface="Arial" panose="020B0604020202020204" pitchFamily="34" charset="0"/>
                      </a:endParaRPr>
                    </a:p>
                  </a:txBody>
                  <a:tcPr anchor="ctr"/>
                </a:tc>
                <a:tc>
                  <a:txBody>
                    <a:bodyPr/>
                    <a:lstStyle/>
                    <a:p>
                      <a:r>
                        <a:rPr lang="en-US" b="0" dirty="0">
                          <a:solidFill>
                            <a:schemeClr val="tx1"/>
                          </a:solidFill>
                        </a:rPr>
                        <a:t>Yes</a:t>
                      </a:r>
                      <a:endParaRPr lang="en-US" b="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787455414"/>
                  </a:ext>
                </a:extLst>
              </a:tr>
              <a:tr h="1076539">
                <a:tc>
                  <a:txBody>
                    <a:bodyPr/>
                    <a:lstStyle/>
                    <a:p>
                      <a:r>
                        <a:rPr lang="en-US" sz="1800" b="0" kern="1200" dirty="0">
                          <a:solidFill>
                            <a:schemeClr val="tx1"/>
                          </a:solidFill>
                          <a:effectLst/>
                        </a:rPr>
                        <a:t>Server operating systems</a:t>
                      </a:r>
                      <a:endParaRPr lang="en-US" b="0" dirty="0">
                        <a:solidFill>
                          <a:schemeClr val="tx1"/>
                        </a:solidFill>
                        <a:latin typeface="Arial" panose="020B0604020202020204" pitchFamily="34" charset="0"/>
                        <a:cs typeface="Arial" panose="020B0604020202020204" pitchFamily="34" charset="0"/>
                      </a:endParaRPr>
                    </a:p>
                  </a:txBody>
                  <a:tcPr anchor="ctr">
                    <a:lnB w="12700" cmpd="sng">
                      <a:noFill/>
                    </a:lnB>
                  </a:tcPr>
                </a:tc>
                <a:tc>
                  <a:txBody>
                    <a:bodyPr/>
                    <a:lstStyle/>
                    <a:p>
                      <a:r>
                        <a:rPr lang="en-US" sz="1800" b="0" kern="1200" dirty="0">
                          <a:solidFill>
                            <a:schemeClr val="tx1"/>
                          </a:solidFill>
                          <a:effectLst/>
                        </a:rPr>
                        <a:t>Linux-Windows</a:t>
                      </a:r>
                      <a:endParaRPr lang="en-US" b="0" dirty="0">
                        <a:solidFill>
                          <a:schemeClr val="tx1"/>
                        </a:solidFill>
                        <a:latin typeface="Arial" panose="020B0604020202020204" pitchFamily="34" charset="0"/>
                        <a:cs typeface="Arial" panose="020B0604020202020204" pitchFamily="34" charset="0"/>
                      </a:endParaRPr>
                    </a:p>
                  </a:txBody>
                  <a:tcPr anchor="ctr">
                    <a:lnB w="12700" cmpd="sng">
                      <a:noFill/>
                    </a:lnB>
                  </a:tcPr>
                </a:tc>
                <a:tc>
                  <a:txBody>
                    <a:bodyPr/>
                    <a:lstStyle/>
                    <a:p>
                      <a:r>
                        <a:rPr lang="en-US" sz="1800" b="0" kern="1200" dirty="0">
                          <a:solidFill>
                            <a:schemeClr val="tx1"/>
                          </a:solidFill>
                          <a:effectLst/>
                        </a:rPr>
                        <a:t>FreeBSD-Linux-OS X-Solaris</a:t>
                      </a:r>
                      <a:br>
                        <a:rPr lang="en-US" b="0" dirty="0">
                          <a:solidFill>
                            <a:schemeClr val="tx1"/>
                          </a:solidFill>
                        </a:rPr>
                      </a:br>
                      <a:r>
                        <a:rPr lang="en-US" sz="1800" b="0" kern="1200" dirty="0">
                          <a:solidFill>
                            <a:schemeClr val="tx1"/>
                          </a:solidFill>
                          <a:effectLst/>
                        </a:rPr>
                        <a:t>Windows</a:t>
                      </a:r>
                      <a:endParaRPr lang="en-US" b="0" dirty="0">
                        <a:solidFill>
                          <a:schemeClr val="tx1"/>
                        </a:solidFill>
                        <a:latin typeface="Arial" panose="020B0604020202020204" pitchFamily="34" charset="0"/>
                        <a:cs typeface="Arial" panose="020B0604020202020204" pitchFamily="34" charset="0"/>
                      </a:endParaRPr>
                    </a:p>
                  </a:txBody>
                  <a:tcPr anchor="ctr">
                    <a:lnB w="12700" cmpd="sng">
                      <a:noFill/>
                    </a:lnB>
                  </a:tcPr>
                </a:tc>
                <a:tc>
                  <a:txBody>
                    <a:bodyPr/>
                    <a:lstStyle/>
                    <a:p>
                      <a:r>
                        <a:rPr lang="en-US" sz="1800" b="0" kern="1200" dirty="0">
                          <a:solidFill>
                            <a:schemeClr val="tx1"/>
                          </a:solidFill>
                          <a:effectLst/>
                        </a:rPr>
                        <a:t>FreeBSD-HP-UX-Linux-NetBSD-OpenBSD-OS X-Solaris-Unix-Windows</a:t>
                      </a:r>
                      <a:endParaRPr lang="en-US" b="0" dirty="0">
                        <a:solidFill>
                          <a:schemeClr val="tx1"/>
                        </a:solidFill>
                        <a:latin typeface="Arial" panose="020B0604020202020204" pitchFamily="34" charset="0"/>
                        <a:cs typeface="Arial" panose="020B0604020202020204" pitchFamily="34" charset="0"/>
                      </a:endParaRPr>
                    </a:p>
                  </a:txBody>
                  <a:tcPr anchor="ctr">
                    <a:lnB w="12700" cmpd="sng">
                      <a:noFill/>
                    </a:lnB>
                  </a:tcPr>
                </a:tc>
                <a:extLst>
                  <a:ext uri="{0D108BD9-81ED-4DB2-BD59-A6C34878D82A}">
                    <a16:rowId xmlns:a16="http://schemas.microsoft.com/office/drawing/2014/main" val="3572094802"/>
                  </a:ext>
                </a:extLst>
              </a:tr>
              <a:tr h="749722">
                <a:tc>
                  <a:txBody>
                    <a:bodyPr/>
                    <a:lstStyle/>
                    <a:p>
                      <a:r>
                        <a:rPr lang="en-US" sz="1800" b="0" i="0" kern="1200" dirty="0">
                          <a:solidFill>
                            <a:schemeClr val="dk1"/>
                          </a:solidFill>
                          <a:effectLst/>
                          <a:latin typeface="+mn-lt"/>
                          <a:ea typeface="+mn-ea"/>
                          <a:cs typeface="+mn-cs"/>
                        </a:rPr>
                        <a:t>License </a:t>
                      </a:r>
                      <a:endParaRPr lang="en-US" b="0" dirty="0">
                        <a:solidFill>
                          <a:schemeClr val="tx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fontAlgn="t"/>
                      <a:r>
                        <a:rPr lang="en-US" sz="1800" b="0" i="0" kern="1200" dirty="0">
                          <a:solidFill>
                            <a:schemeClr val="dk1"/>
                          </a:solidFill>
                          <a:effectLst/>
                          <a:latin typeface="+mn-lt"/>
                          <a:ea typeface="+mn-ea"/>
                          <a:cs typeface="+mn-cs"/>
                        </a:rPr>
                        <a:t>commercial</a:t>
                      </a:r>
                      <a:endParaRPr lang="en-US" b="0" dirty="0">
                        <a:solidFill>
                          <a:schemeClr val="tx1"/>
                        </a:solidFill>
                        <a:effectLst/>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fontAlgn="t"/>
                      <a:r>
                        <a:rPr lang="en-US" sz="1800" b="0" i="0" kern="1200" dirty="0">
                          <a:solidFill>
                            <a:schemeClr val="dk1"/>
                          </a:solidFill>
                          <a:effectLst/>
                          <a:latin typeface="+mn-lt"/>
                          <a:ea typeface="+mn-ea"/>
                          <a:cs typeface="+mn-cs"/>
                        </a:rPr>
                        <a:t>Open Source</a:t>
                      </a:r>
                      <a:endParaRPr lang="en-US" b="0" dirty="0">
                        <a:solidFill>
                          <a:schemeClr val="tx1"/>
                        </a:solidFill>
                        <a:effectLst/>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fontAlgn="t"/>
                      <a:r>
                        <a:rPr lang="en-US" sz="1800" b="0" i="0" kern="1200" dirty="0">
                          <a:solidFill>
                            <a:schemeClr val="dk1"/>
                          </a:solidFill>
                          <a:effectLst/>
                          <a:latin typeface="+mn-lt"/>
                          <a:ea typeface="+mn-ea"/>
                          <a:cs typeface="+mn-cs"/>
                        </a:rPr>
                        <a:t>Open Source</a:t>
                      </a:r>
                      <a:endParaRPr lang="en-US" b="0" dirty="0">
                        <a:solidFill>
                          <a:schemeClr val="tx1"/>
                        </a:solidFill>
                        <a:effectLst/>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4176786"/>
                  </a:ext>
                </a:extLst>
              </a:tr>
              <a:tr h="858129">
                <a:tc>
                  <a:txBody>
                    <a:bodyPr/>
                    <a:lstStyle/>
                    <a:p>
                      <a:endParaRPr lang="en-US" b="0" dirty="0">
                        <a:solidFill>
                          <a:schemeClr val="tx1"/>
                        </a:solidFill>
                        <a:latin typeface="Arial" panose="020B0604020202020204" pitchFamily="34" charset="0"/>
                        <a:cs typeface="Arial" panose="020B0604020202020204" pitchFamily="34" charset="0"/>
                      </a:endParaRPr>
                    </a:p>
                  </a:txBody>
                  <a:tcPr>
                    <a:lnT w="12700" cap="flat" cmpd="sng" algn="ctr">
                      <a:noFill/>
                      <a:prstDash val="solid"/>
                      <a:round/>
                      <a:headEnd type="none" w="med" len="med"/>
                      <a:tailEnd type="none" w="med" len="med"/>
                    </a:lnT>
                  </a:tcPr>
                </a:tc>
                <a:tc>
                  <a:txBody>
                    <a:bodyPr/>
                    <a:lstStyle/>
                    <a:p>
                      <a:pPr fontAlgn="t"/>
                      <a:endParaRPr lang="en-US" b="0" dirty="0">
                        <a:solidFill>
                          <a:schemeClr val="tx1"/>
                        </a:solidFill>
                        <a:effectLst/>
                        <a:latin typeface="Arial" panose="020B0604020202020204" pitchFamily="34" charset="0"/>
                        <a:cs typeface="Arial" panose="020B0604020202020204" pitchFamily="34" charset="0"/>
                      </a:endParaRPr>
                    </a:p>
                  </a:txBody>
                  <a:tcPr>
                    <a:lnT w="12700" cap="flat" cmpd="sng" algn="ctr">
                      <a:noFill/>
                      <a:prstDash val="solid"/>
                      <a:round/>
                      <a:headEnd type="none" w="med" len="med"/>
                      <a:tailEnd type="none" w="med" len="med"/>
                    </a:lnT>
                  </a:tcPr>
                </a:tc>
                <a:tc>
                  <a:txBody>
                    <a:bodyPr/>
                    <a:lstStyle/>
                    <a:p>
                      <a:pPr fontAlgn="t"/>
                      <a:endParaRPr lang="en-US" b="0" dirty="0">
                        <a:solidFill>
                          <a:schemeClr val="tx1"/>
                        </a:solidFill>
                        <a:effectLst/>
                        <a:latin typeface="Arial" panose="020B0604020202020204" pitchFamily="34" charset="0"/>
                        <a:cs typeface="Arial" panose="020B0604020202020204" pitchFamily="34" charset="0"/>
                      </a:endParaRPr>
                    </a:p>
                  </a:txBody>
                  <a:tcPr>
                    <a:lnT w="12700" cap="flat" cmpd="sng" algn="ctr">
                      <a:noFill/>
                      <a:prstDash val="solid"/>
                      <a:round/>
                      <a:headEnd type="none" w="med" len="med"/>
                      <a:tailEnd type="none" w="med" len="med"/>
                    </a:lnT>
                  </a:tcPr>
                </a:tc>
                <a:tc>
                  <a:txBody>
                    <a:bodyPr/>
                    <a:lstStyle/>
                    <a:p>
                      <a:pPr fontAlgn="t"/>
                      <a:endParaRPr lang="en-US" b="0" dirty="0">
                        <a:solidFill>
                          <a:schemeClr val="tx1"/>
                        </a:solidFill>
                        <a:effectLst/>
                        <a:latin typeface="Arial" panose="020B0604020202020204" pitchFamily="34" charset="0"/>
                        <a:cs typeface="Arial" panose="020B0604020202020204" pitchFamily="34" charset="0"/>
                      </a:endParaRPr>
                    </a:p>
                  </a:txBody>
                  <a:tcPr>
                    <a:lnT w="12700" cap="flat" cmpd="sng" algn="ctr">
                      <a:noFill/>
                      <a:prstDash val="solid"/>
                      <a:round/>
                      <a:headEnd type="none" w="med" len="med"/>
                      <a:tailEnd type="none" w="med" len="med"/>
                    </a:lnT>
                  </a:tcPr>
                </a:tc>
                <a:extLst>
                  <a:ext uri="{0D108BD9-81ED-4DB2-BD59-A6C34878D82A}">
                    <a16:rowId xmlns:a16="http://schemas.microsoft.com/office/drawing/2014/main" val="2179045363"/>
                  </a:ext>
                </a:extLst>
              </a:tr>
            </a:tbl>
          </a:graphicData>
        </a:graphic>
      </p:graphicFrame>
    </p:spTree>
    <p:extLst>
      <p:ext uri="{BB962C8B-B14F-4D97-AF65-F5344CB8AC3E}">
        <p14:creationId xmlns:p14="http://schemas.microsoft.com/office/powerpoint/2010/main" val="3418634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11E31D0F-144F-4933-9990-D7178E3B8568}"/>
              </a:ext>
            </a:extLst>
          </p:cNvPr>
          <p:cNvGraphicFramePr>
            <a:graphicFrameLocks noGrp="1"/>
          </p:cNvGraphicFramePr>
          <p:nvPr>
            <p:extLst>
              <p:ext uri="{D42A27DB-BD31-4B8C-83A1-F6EECF244321}">
                <p14:modId xmlns:p14="http://schemas.microsoft.com/office/powerpoint/2010/main" val="460879709"/>
              </p:ext>
            </p:extLst>
          </p:nvPr>
        </p:nvGraphicFramePr>
        <p:xfrm>
          <a:off x="0" y="0"/>
          <a:ext cx="12192000" cy="5643722"/>
        </p:xfrm>
        <a:graphic>
          <a:graphicData uri="http://schemas.openxmlformats.org/drawingml/2006/table">
            <a:tbl>
              <a:tblPr firstRow="1" bandRow="1">
                <a:tableStyleId>{00A15C55-8517-42AA-B614-E9B94910E393}</a:tableStyleId>
              </a:tblPr>
              <a:tblGrid>
                <a:gridCol w="2532185">
                  <a:extLst>
                    <a:ext uri="{9D8B030D-6E8A-4147-A177-3AD203B41FA5}">
                      <a16:colId xmlns:a16="http://schemas.microsoft.com/office/drawing/2014/main" val="3275995419"/>
                    </a:ext>
                  </a:extLst>
                </a:gridCol>
                <a:gridCol w="3305907">
                  <a:extLst>
                    <a:ext uri="{9D8B030D-6E8A-4147-A177-3AD203B41FA5}">
                      <a16:colId xmlns:a16="http://schemas.microsoft.com/office/drawing/2014/main" val="2983482632"/>
                    </a:ext>
                  </a:extLst>
                </a:gridCol>
                <a:gridCol w="3094893">
                  <a:extLst>
                    <a:ext uri="{9D8B030D-6E8A-4147-A177-3AD203B41FA5}">
                      <a16:colId xmlns:a16="http://schemas.microsoft.com/office/drawing/2014/main" val="2048724015"/>
                    </a:ext>
                  </a:extLst>
                </a:gridCol>
                <a:gridCol w="3259015">
                  <a:extLst>
                    <a:ext uri="{9D8B030D-6E8A-4147-A177-3AD203B41FA5}">
                      <a16:colId xmlns:a16="http://schemas.microsoft.com/office/drawing/2014/main" val="1480455315"/>
                    </a:ext>
                  </a:extLst>
                </a:gridCol>
              </a:tblGrid>
              <a:tr h="344977">
                <a:tc>
                  <a:txBody>
                    <a:bodyPr/>
                    <a:lstStyle/>
                    <a:p>
                      <a:endParaRPr lang="en-US" dirty="0"/>
                    </a:p>
                  </a:txBody>
                  <a:tcPr/>
                </a:tc>
                <a:tc>
                  <a:txBody>
                    <a:bodyPr/>
                    <a:lstStyle/>
                    <a:p>
                      <a:pPr algn="ctr"/>
                      <a:r>
                        <a:rPr lang="en-US" sz="1800" b="1" kern="1200" dirty="0">
                          <a:solidFill>
                            <a:schemeClr val="bg1"/>
                          </a:solidFill>
                          <a:effectLst/>
                        </a:rPr>
                        <a:t>Microsoft SQL Server</a:t>
                      </a:r>
                      <a:endParaRPr lang="en-US" sz="1800" b="1" dirty="0">
                        <a:solidFill>
                          <a:schemeClr val="bg1"/>
                        </a:solidFill>
                        <a:latin typeface="Arial" panose="020B0604020202020204" pitchFamily="34" charset="0"/>
                        <a:cs typeface="Arial" panose="020B0604020202020204" pitchFamily="34" charset="0"/>
                      </a:endParaRPr>
                    </a:p>
                  </a:txBody>
                  <a:tcPr anchor="ctr"/>
                </a:tc>
                <a:tc>
                  <a:txBody>
                    <a:bodyPr/>
                    <a:lstStyle/>
                    <a:p>
                      <a:pPr algn="ctr"/>
                      <a:r>
                        <a:rPr lang="en-US" sz="1800" b="1" kern="1200" dirty="0">
                          <a:solidFill>
                            <a:schemeClr val="bg1"/>
                          </a:solidFill>
                          <a:effectLst/>
                        </a:rPr>
                        <a:t>MySQL  </a:t>
                      </a:r>
                      <a:endParaRPr lang="en-US" sz="1800" b="1" dirty="0">
                        <a:solidFill>
                          <a:schemeClr val="bg1"/>
                        </a:solidFill>
                        <a:latin typeface="Arial" panose="020B0604020202020204" pitchFamily="34" charset="0"/>
                        <a:cs typeface="Arial" panose="020B0604020202020204" pitchFamily="34" charset="0"/>
                      </a:endParaRPr>
                    </a:p>
                  </a:txBody>
                  <a:tcPr anchor="ctr"/>
                </a:tc>
                <a:tc>
                  <a:txBody>
                    <a:bodyPr/>
                    <a:lstStyle/>
                    <a:p>
                      <a:pPr algn="ctr"/>
                      <a:r>
                        <a:rPr lang="en-US" sz="1800" b="1" kern="1200" dirty="0">
                          <a:solidFill>
                            <a:schemeClr val="bg1"/>
                          </a:solidFill>
                          <a:effectLst/>
                        </a:rPr>
                        <a:t>PostgreSQL</a:t>
                      </a:r>
                      <a:endParaRPr lang="en-US" sz="1800" b="1" dirty="0">
                        <a:solidFill>
                          <a:schemeClr val="bg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824978279"/>
                  </a:ext>
                </a:extLst>
              </a:tr>
              <a:tr h="1575582">
                <a:tc>
                  <a:txBody>
                    <a:bodyPr/>
                    <a:lstStyle/>
                    <a:p>
                      <a:r>
                        <a:rPr lang="en-US" sz="1800" b="0" i="0" kern="1200" dirty="0">
                          <a:solidFill>
                            <a:schemeClr val="dk1"/>
                          </a:solidFill>
                          <a:effectLst/>
                          <a:latin typeface="+mn-lt"/>
                          <a:ea typeface="+mn-ea"/>
                          <a:cs typeface="Arial" panose="020B0604020202020204" pitchFamily="34" charset="0"/>
                        </a:rPr>
                        <a:t>Server-side scripts</a:t>
                      </a:r>
                      <a:endParaRPr lang="en-US" sz="1800" b="0" dirty="0">
                        <a:latin typeface="+mn-lt"/>
                        <a:cs typeface="Arial" panose="020B0604020202020204" pitchFamily="34" charset="0"/>
                      </a:endParaRPr>
                    </a:p>
                  </a:txBody>
                  <a:tcPr anchor="ctr"/>
                </a:tc>
                <a:tc>
                  <a:txBody>
                    <a:bodyPr/>
                    <a:lstStyle/>
                    <a:p>
                      <a:r>
                        <a:rPr lang="en-US" sz="1800" b="0" i="0" kern="1200" dirty="0">
                          <a:solidFill>
                            <a:schemeClr val="dk1"/>
                          </a:solidFill>
                          <a:effectLst/>
                          <a:latin typeface="+mn-lt"/>
                          <a:ea typeface="+mn-ea"/>
                          <a:cs typeface="Arial" panose="020B0604020202020204" pitchFamily="34" charset="0"/>
                        </a:rPr>
                        <a:t>Transact SQL, .NET languages, R, Python and (with SQL Server 2019) Java</a:t>
                      </a:r>
                      <a:endParaRPr lang="en-US" sz="1800" b="0" dirty="0">
                        <a:latin typeface="+mn-lt"/>
                        <a:cs typeface="Arial" panose="020B0604020202020204" pitchFamily="34" charset="0"/>
                      </a:endParaRPr>
                    </a:p>
                  </a:txBody>
                  <a:tcPr anchor="ctr"/>
                </a:tc>
                <a:tc>
                  <a:txBody>
                    <a:bodyPr/>
                    <a:lstStyle/>
                    <a:p>
                      <a:pPr algn="l"/>
                      <a:r>
                        <a:rPr lang="en-US" sz="1800" b="0" dirty="0">
                          <a:latin typeface="+mn-lt"/>
                          <a:cs typeface="Arial" panose="020B0604020202020204" pitchFamily="34" charset="0"/>
                        </a:rPr>
                        <a:t>yes</a:t>
                      </a:r>
                    </a:p>
                  </a:txBody>
                  <a:tcPr anchor="ctr"/>
                </a:tc>
                <a:tc>
                  <a:txBody>
                    <a:bodyPr/>
                    <a:lstStyle/>
                    <a:p>
                      <a:r>
                        <a:rPr lang="en-US" sz="1800" b="0" i="0" kern="1200" dirty="0">
                          <a:solidFill>
                            <a:schemeClr val="dk1"/>
                          </a:solidFill>
                          <a:effectLst/>
                          <a:latin typeface="+mn-lt"/>
                          <a:ea typeface="+mn-ea"/>
                          <a:cs typeface="Arial" panose="020B0604020202020204" pitchFamily="34" charset="0"/>
                        </a:rPr>
                        <a:t>user defined functions</a:t>
                      </a:r>
                      <a:endParaRPr lang="en-US" sz="1800" b="0" dirty="0">
                        <a:latin typeface="+mn-lt"/>
                        <a:cs typeface="Arial" panose="020B0604020202020204" pitchFamily="34" charset="0"/>
                      </a:endParaRPr>
                    </a:p>
                  </a:txBody>
                  <a:tcPr anchor="ctr"/>
                </a:tc>
                <a:extLst>
                  <a:ext uri="{0D108BD9-81ED-4DB2-BD59-A6C34878D82A}">
                    <a16:rowId xmlns:a16="http://schemas.microsoft.com/office/drawing/2014/main" val="1522225152"/>
                  </a:ext>
                </a:extLst>
              </a:tr>
              <a:tr h="1709109">
                <a:tc>
                  <a:txBody>
                    <a:bodyPr/>
                    <a:lstStyle/>
                    <a:p>
                      <a:r>
                        <a:rPr lang="en-US" sz="1800" b="0" kern="1200" dirty="0">
                          <a:solidFill>
                            <a:schemeClr val="tx1"/>
                          </a:solidFill>
                          <a:effectLst/>
                          <a:latin typeface="+mn-lt"/>
                        </a:rPr>
                        <a:t>Partitioning methods</a:t>
                      </a:r>
                      <a:endParaRPr lang="en-US" b="0" dirty="0">
                        <a:solidFill>
                          <a:schemeClr val="tx1"/>
                        </a:solidFill>
                        <a:latin typeface="+mn-lt"/>
                        <a:cs typeface="Arial" panose="020B0604020202020204" pitchFamily="34" charset="0"/>
                      </a:endParaRPr>
                    </a:p>
                  </a:txBody>
                  <a:tcPr anchor="ctr"/>
                </a:tc>
                <a:tc>
                  <a:txBody>
                    <a:bodyPr/>
                    <a:lstStyle/>
                    <a:p>
                      <a:pPr fontAlgn="t"/>
                      <a:r>
                        <a:rPr lang="en-US" b="0" dirty="0">
                          <a:solidFill>
                            <a:schemeClr val="tx1"/>
                          </a:solidFill>
                          <a:effectLst/>
                          <a:latin typeface="+mn-lt"/>
                        </a:rPr>
                        <a:t>tables can be distributed across several files (horizontal partitioning); sharding through federation</a:t>
                      </a:r>
                      <a:endParaRPr lang="en-US" b="0" dirty="0">
                        <a:solidFill>
                          <a:schemeClr val="tx1"/>
                        </a:solidFill>
                        <a:effectLst/>
                        <a:latin typeface="+mn-lt"/>
                        <a:cs typeface="Arial" panose="020B0604020202020204" pitchFamily="34" charset="0"/>
                      </a:endParaRPr>
                    </a:p>
                  </a:txBody>
                  <a:tcPr anchor="ctr"/>
                </a:tc>
                <a:tc>
                  <a:txBody>
                    <a:bodyPr/>
                    <a:lstStyle/>
                    <a:p>
                      <a:pPr fontAlgn="t"/>
                      <a:r>
                        <a:rPr lang="en-US" b="0" dirty="0">
                          <a:solidFill>
                            <a:schemeClr val="tx1"/>
                          </a:solidFill>
                          <a:effectLst/>
                          <a:latin typeface="+mn-lt"/>
                        </a:rPr>
                        <a:t>horizontal partitioning, sharding with MySQL Cluster or MySQL Fabric</a:t>
                      </a:r>
                      <a:endParaRPr lang="en-US" b="0" dirty="0">
                        <a:solidFill>
                          <a:schemeClr val="tx1"/>
                        </a:solidFill>
                        <a:effectLst/>
                        <a:latin typeface="+mn-lt"/>
                        <a:cs typeface="Arial" panose="020B0604020202020204" pitchFamily="34" charset="0"/>
                      </a:endParaRPr>
                    </a:p>
                  </a:txBody>
                  <a:tcPr anchor="ctr"/>
                </a:tc>
                <a:tc>
                  <a:txBody>
                    <a:bodyPr/>
                    <a:lstStyle/>
                    <a:p>
                      <a:pPr fontAlgn="t"/>
                      <a:r>
                        <a:rPr lang="en-US" b="0" dirty="0">
                          <a:solidFill>
                            <a:schemeClr val="tx1"/>
                          </a:solidFill>
                          <a:effectLst/>
                          <a:latin typeface="+mn-lt"/>
                        </a:rPr>
                        <a:t>partitioning by range, list and (since PostgreSQL 11) by hash</a:t>
                      </a:r>
                      <a:endParaRPr lang="en-US" b="0" dirty="0">
                        <a:solidFill>
                          <a:schemeClr val="tx1"/>
                        </a:solidFill>
                        <a:effectLst/>
                        <a:latin typeface="+mn-lt"/>
                        <a:cs typeface="Arial" panose="020B0604020202020204" pitchFamily="34" charset="0"/>
                      </a:endParaRPr>
                    </a:p>
                  </a:txBody>
                  <a:tcPr anchor="ctr"/>
                </a:tc>
                <a:extLst>
                  <a:ext uri="{0D108BD9-81ED-4DB2-BD59-A6C34878D82A}">
                    <a16:rowId xmlns:a16="http://schemas.microsoft.com/office/drawing/2014/main" val="3923531430"/>
                  </a:ext>
                </a:extLst>
              </a:tr>
              <a:tr h="1993271">
                <a:tc>
                  <a:txBody>
                    <a:bodyPr/>
                    <a:lstStyle/>
                    <a:p>
                      <a:r>
                        <a:rPr lang="en-US" sz="1800" b="0" i="0" kern="1200" dirty="0">
                          <a:solidFill>
                            <a:schemeClr val="dk1"/>
                          </a:solidFill>
                          <a:effectLst/>
                          <a:latin typeface="+mn-lt"/>
                          <a:ea typeface="+mn-ea"/>
                          <a:cs typeface="+mn-cs"/>
                        </a:rPr>
                        <a:t>APIs and other access methods</a:t>
                      </a:r>
                      <a:endParaRPr lang="en-US" sz="1800" b="0" dirty="0">
                        <a:latin typeface="+mn-lt"/>
                        <a:cs typeface="Arial" panose="020B0604020202020204" pitchFamily="34" charset="0"/>
                      </a:endParaRPr>
                    </a:p>
                  </a:txBody>
                  <a:tcPr anchor="ctr"/>
                </a:tc>
                <a:tc>
                  <a:txBody>
                    <a:bodyPr/>
                    <a:lstStyle/>
                    <a:p>
                      <a:pPr fontAlgn="t"/>
                      <a:r>
                        <a:rPr lang="en-US" dirty="0">
                          <a:effectLst/>
                          <a:latin typeface="+mn-lt"/>
                        </a:rPr>
                        <a:t>ADO.NET</a:t>
                      </a:r>
                      <a:br>
                        <a:rPr lang="en-US" dirty="0">
                          <a:effectLst/>
                          <a:latin typeface="+mn-lt"/>
                        </a:rPr>
                      </a:br>
                      <a:r>
                        <a:rPr lang="en-US" dirty="0">
                          <a:effectLst/>
                          <a:latin typeface="+mn-lt"/>
                        </a:rPr>
                        <a:t>JDBC</a:t>
                      </a:r>
                      <a:br>
                        <a:rPr lang="en-US" dirty="0">
                          <a:effectLst/>
                          <a:latin typeface="+mn-lt"/>
                        </a:rPr>
                      </a:br>
                      <a:r>
                        <a:rPr lang="en-US" dirty="0">
                          <a:effectLst/>
                          <a:latin typeface="+mn-lt"/>
                        </a:rPr>
                        <a:t>ODBC</a:t>
                      </a:r>
                      <a:br>
                        <a:rPr lang="en-US" dirty="0">
                          <a:effectLst/>
                          <a:latin typeface="+mn-lt"/>
                        </a:rPr>
                      </a:br>
                      <a:r>
                        <a:rPr lang="en-US" dirty="0">
                          <a:effectLst/>
                          <a:latin typeface="+mn-lt"/>
                        </a:rPr>
                        <a:t>OLE DB</a:t>
                      </a:r>
                      <a:br>
                        <a:rPr lang="en-US" dirty="0">
                          <a:effectLst/>
                          <a:latin typeface="+mn-lt"/>
                        </a:rPr>
                      </a:br>
                      <a:r>
                        <a:rPr lang="en-US" dirty="0">
                          <a:effectLst/>
                          <a:latin typeface="+mn-lt"/>
                        </a:rPr>
                        <a:t>Tabular Data Stream (TDS)</a:t>
                      </a:r>
                    </a:p>
                  </a:txBody>
                  <a:tcPr anchor="ctr"/>
                </a:tc>
                <a:tc>
                  <a:txBody>
                    <a:bodyPr/>
                    <a:lstStyle/>
                    <a:p>
                      <a:pPr fontAlgn="t"/>
                      <a:r>
                        <a:rPr lang="en-US" dirty="0">
                          <a:effectLst/>
                          <a:latin typeface="+mn-lt"/>
                        </a:rPr>
                        <a:t>ADO.NET</a:t>
                      </a:r>
                      <a:br>
                        <a:rPr lang="en-US" dirty="0">
                          <a:effectLst/>
                          <a:latin typeface="+mn-lt"/>
                        </a:rPr>
                      </a:br>
                      <a:r>
                        <a:rPr lang="en-US" dirty="0">
                          <a:effectLst/>
                          <a:latin typeface="+mn-lt"/>
                        </a:rPr>
                        <a:t>JDBC</a:t>
                      </a:r>
                      <a:br>
                        <a:rPr lang="en-US" dirty="0">
                          <a:effectLst/>
                          <a:latin typeface="+mn-lt"/>
                        </a:rPr>
                      </a:br>
                      <a:r>
                        <a:rPr lang="en-US" dirty="0">
                          <a:effectLst/>
                          <a:latin typeface="+mn-lt"/>
                        </a:rPr>
                        <a:t>ODBC</a:t>
                      </a:r>
                      <a:br>
                        <a:rPr lang="en-US" dirty="0">
                          <a:effectLst/>
                          <a:latin typeface="+mn-lt"/>
                        </a:rPr>
                      </a:br>
                      <a:r>
                        <a:rPr lang="en-US" dirty="0">
                          <a:effectLst/>
                          <a:latin typeface="+mn-lt"/>
                        </a:rPr>
                        <a:t>Proprietary native API</a:t>
                      </a:r>
                    </a:p>
                  </a:txBody>
                  <a:tcPr anchor="ctr"/>
                </a:tc>
                <a:tc>
                  <a:txBody>
                    <a:bodyPr/>
                    <a:lstStyle/>
                    <a:p>
                      <a:pPr fontAlgn="t"/>
                      <a:r>
                        <a:rPr lang="en-US" dirty="0">
                          <a:effectLst/>
                          <a:latin typeface="+mn-lt"/>
                        </a:rPr>
                        <a:t>ADO.NET</a:t>
                      </a:r>
                      <a:br>
                        <a:rPr lang="en-US" dirty="0">
                          <a:effectLst/>
                          <a:latin typeface="+mn-lt"/>
                        </a:rPr>
                      </a:br>
                      <a:r>
                        <a:rPr lang="en-US" dirty="0">
                          <a:effectLst/>
                          <a:latin typeface="+mn-lt"/>
                        </a:rPr>
                        <a:t>JDBC</a:t>
                      </a:r>
                      <a:br>
                        <a:rPr lang="en-US" dirty="0">
                          <a:effectLst/>
                          <a:latin typeface="+mn-lt"/>
                        </a:rPr>
                      </a:br>
                      <a:r>
                        <a:rPr lang="en-US" dirty="0">
                          <a:effectLst/>
                          <a:latin typeface="+mn-lt"/>
                        </a:rPr>
                        <a:t>native C library</a:t>
                      </a:r>
                      <a:br>
                        <a:rPr lang="en-US" dirty="0">
                          <a:effectLst/>
                          <a:latin typeface="+mn-lt"/>
                        </a:rPr>
                      </a:br>
                      <a:r>
                        <a:rPr lang="en-US" dirty="0">
                          <a:effectLst/>
                          <a:latin typeface="+mn-lt"/>
                        </a:rPr>
                        <a:t>ODBC</a:t>
                      </a:r>
                      <a:br>
                        <a:rPr lang="en-US" dirty="0">
                          <a:effectLst/>
                          <a:latin typeface="+mn-lt"/>
                        </a:rPr>
                      </a:br>
                      <a:r>
                        <a:rPr lang="en-US" dirty="0">
                          <a:effectLst/>
                          <a:latin typeface="+mn-lt"/>
                        </a:rPr>
                        <a:t>streaming API for large objects</a:t>
                      </a:r>
                    </a:p>
                  </a:txBody>
                  <a:tcPr anchor="ctr"/>
                </a:tc>
                <a:extLst>
                  <a:ext uri="{0D108BD9-81ED-4DB2-BD59-A6C34878D82A}">
                    <a16:rowId xmlns:a16="http://schemas.microsoft.com/office/drawing/2014/main" val="1791699555"/>
                  </a:ext>
                </a:extLst>
              </a:tr>
            </a:tbl>
          </a:graphicData>
        </a:graphic>
      </p:graphicFrame>
    </p:spTree>
    <p:extLst>
      <p:ext uri="{BB962C8B-B14F-4D97-AF65-F5344CB8AC3E}">
        <p14:creationId xmlns:p14="http://schemas.microsoft.com/office/powerpoint/2010/main" val="1411478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3AC67-71AF-4A7D-A92C-71AC87515069}"/>
              </a:ext>
            </a:extLst>
          </p:cNvPr>
          <p:cNvSpPr>
            <a:spLocks noGrp="1"/>
          </p:cNvSpPr>
          <p:nvPr>
            <p:ph type="title"/>
          </p:nvPr>
        </p:nvSpPr>
        <p:spPr>
          <a:xfrm>
            <a:off x="1715292" y="945532"/>
            <a:ext cx="8761413" cy="706964"/>
          </a:xfrm>
        </p:spPr>
        <p:txBody>
          <a:bodyPr/>
          <a:lstStyle/>
          <a:p>
            <a:pPr algn="ctr"/>
            <a:r>
              <a:rPr lang="en-US" sz="4000" b="1" dirty="0">
                <a:solidFill>
                  <a:schemeClr val="accent2">
                    <a:lumMod val="60000"/>
                    <a:lumOff val="40000"/>
                  </a:schemeClr>
                </a:solidFill>
                <a:effectLst>
                  <a:outerShdw blurRad="38100" dist="38100" dir="2700000" algn="tl">
                    <a:srgbClr val="000000">
                      <a:alpha val="43137"/>
                    </a:srgbClr>
                  </a:outerShdw>
                </a:effectLst>
              </a:rPr>
              <a:t>Conclusion</a:t>
            </a:r>
            <a:endParaRPr lang="en-US" sz="4000" dirty="0"/>
          </a:p>
        </p:txBody>
      </p:sp>
      <p:sp>
        <p:nvSpPr>
          <p:cNvPr id="3" name="Content Placeholder 2">
            <a:extLst>
              <a:ext uri="{FF2B5EF4-FFF2-40B4-BE49-F238E27FC236}">
                <a16:creationId xmlns:a16="http://schemas.microsoft.com/office/drawing/2014/main" id="{758912B8-A3CB-4D14-979F-721A25682DC6}"/>
              </a:ext>
            </a:extLst>
          </p:cNvPr>
          <p:cNvSpPr>
            <a:spLocks noGrp="1"/>
          </p:cNvSpPr>
          <p:nvPr>
            <p:ph idx="1"/>
          </p:nvPr>
        </p:nvSpPr>
        <p:spPr>
          <a:xfrm>
            <a:off x="701741" y="2547229"/>
            <a:ext cx="10788517" cy="3726962"/>
          </a:xfrm>
        </p:spPr>
        <p:txBody>
          <a:bodyPr>
            <a:normAutofit/>
          </a:bodyPr>
          <a:lstStyle/>
          <a:p>
            <a:pPr algn="just">
              <a:lnSpc>
                <a:spcPct val="150000"/>
              </a:lnSpc>
            </a:pPr>
            <a:r>
              <a:rPr lang="en-US" sz="2000" b="0" i="0" dirty="0">
                <a:solidFill>
                  <a:srgbClr val="252525"/>
                </a:solidFill>
                <a:effectLst/>
                <a:latin typeface="Arial" panose="020B0604020202020204" pitchFamily="34" charset="0"/>
                <a:cs typeface="Arial" panose="020B0604020202020204" pitchFamily="34" charset="0"/>
              </a:rPr>
              <a:t>The choice between the three most popular databases ultimately boils down to the comparison of the functionality, use cases, and ecosystems. Companies that prioritize flexibility, cost-efficiency, and innovation usually choose open-source solutions. </a:t>
            </a:r>
          </a:p>
          <a:p>
            <a:pPr algn="just">
              <a:lnSpc>
                <a:spcPct val="150000"/>
              </a:lnSpc>
            </a:pPr>
            <a:r>
              <a:rPr lang="en-US" sz="2000" dirty="0">
                <a:solidFill>
                  <a:srgbClr val="252525"/>
                </a:solidFill>
                <a:latin typeface="Arial" panose="020B0604020202020204" pitchFamily="34" charset="0"/>
                <a:cs typeface="Arial" panose="020B0604020202020204" pitchFamily="34" charset="0"/>
              </a:rPr>
              <a:t>I</a:t>
            </a:r>
            <a:r>
              <a:rPr lang="en-US" sz="2000" b="0" i="0" dirty="0">
                <a:solidFill>
                  <a:srgbClr val="252525"/>
                </a:solidFill>
                <a:effectLst/>
                <a:latin typeface="Arial" panose="020B0604020202020204" pitchFamily="34" charset="0"/>
                <a:cs typeface="Arial" panose="020B0604020202020204" pitchFamily="34" charset="0"/>
              </a:rPr>
              <a:t>f you are considering a database for your project, getting a team of experts who will help you define the criteria and narrow down the options is probably the best idea.</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1333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510</TotalTime>
  <Words>821</Words>
  <Application>Microsoft Office PowerPoint</Application>
  <PresentationFormat>Widescreen</PresentationFormat>
  <Paragraphs>75</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Century Gothic</vt:lpstr>
      <vt:lpstr>Roboto</vt:lpstr>
      <vt:lpstr>Wingdings 3</vt:lpstr>
      <vt:lpstr>Ion Boardroom</vt:lpstr>
      <vt:lpstr>PowerPoint Presentation</vt:lpstr>
      <vt:lpstr>What is a Database ?</vt:lpstr>
      <vt:lpstr>Relational Database Management Systems(RDBMS)</vt:lpstr>
      <vt:lpstr>MySQL</vt:lpstr>
      <vt:lpstr>PostgreSQL</vt:lpstr>
      <vt:lpstr>SQL SERVER</vt:lpstr>
      <vt:lpstr>the difference between MySQL, PostgreSQL and SQL server ?</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Databases</dc:title>
  <dc:creator>saif eddine romdhane</dc:creator>
  <cp:lastModifiedBy>saif eddine romdhane</cp:lastModifiedBy>
  <cp:revision>29</cp:revision>
  <dcterms:created xsi:type="dcterms:W3CDTF">2021-01-29T10:58:26Z</dcterms:created>
  <dcterms:modified xsi:type="dcterms:W3CDTF">2021-01-29T19:28:40Z</dcterms:modified>
</cp:coreProperties>
</file>